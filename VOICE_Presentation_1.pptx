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11F90DE-CDF4-4C0A-980A-86F2E980773A}"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Opening: introduce the project and team before moving into the problem statement.</a:t>
            </a:r>
            <a:endParaRPr lang="en-US" sz="2000" b="0" u="none" strike="noStrike">
              <a:solidFill>
                <a:srgbClr val="000000"/>
              </a:solidFill>
              <a:effectLst/>
              <a:uFillTx/>
              <a:latin typeface="Arial"/>
            </a:endParaRPr>
          </a:p>
        </p:txBody>
      </p:sp>
      <p:sp>
        <p:nvSpPr>
          <p:cNvPr id="17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CEFB66-E6F0-4970-A13D-08FE7E2B8C6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day, valuable spoken content — meetings, interviews, calls, personal recordings — goes unused because turning audio into something searchable and useful is slow and manual. It's even harder in Arabic, where mainstream transcription tools are unreliable across dialects. And the tools that do work well require sending your audio to the cloud — a real problem for anything sensitive: legal conversations, medical notes, journalism, private recordings.</a:t>
            </a:r>
            <a:endParaRPr lang="en-US" sz="2000" b="0" u="none" strike="noStrike">
              <a:solidFill>
                <a:srgbClr val="000000"/>
              </a:solidFill>
              <a:effectLst/>
              <a:uFillTx/>
              <a:latin typeface="Arial"/>
            </a:endParaRPr>
          </a:p>
        </p:txBody>
      </p:sp>
      <p:sp>
        <p:nvSpPr>
          <p:cNvPr id="17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2CA946-5117-40E7-8C62-DA285DE5965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VOICE is a fully local, Arabic-first speech intelligence system. You upload or record audio, and it gives you back four things: a transcript, a speaker-by-speaker timeline of who spoke when, recognition of specific enrolled voices, and a summary with key entities pulled out automatically. The defining feature is that none of this touches the internet at inference time. Every model — speech recognition, speaker diarization, voice recognition, summarization — runs on your own machine, on your own GPU. Nothing about what was said, or who said it, ever leaves your hardware. That makes it usable for exactly the sensitive recordings cloud tools can't touch.</a:t>
            </a:r>
            <a:endParaRPr lang="en-US" sz="2000" b="0" u="none" strike="noStrike">
              <a:solidFill>
                <a:srgbClr val="000000"/>
              </a:solidFill>
              <a:effectLst/>
              <a:uFillTx/>
              <a:latin typeface="Arial"/>
            </a:endParaRPr>
          </a:p>
        </p:txBody>
      </p:sp>
      <p:sp>
        <p:nvSpPr>
          <p:cNvPr id="17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5CD201-D713-42E3-B193-D9CA742E66D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6040" cy="3085920"/>
          </a:xfrm>
          <a:prstGeom prst="rect">
            <a:avLst/>
          </a:prstGeom>
          <a:ln w="0">
            <a:noFill/>
          </a:ln>
        </p:spPr>
      </p:sp>
      <p:sp>
        <p:nvSpPr>
          <p:cNvPr id="1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pipeline runs in four stages. First, the audio is normalized to a standard format. Then Faster-Whisper transcribes it, automatically detecting the spoken language. In parallel, NVIDIA's NeMo toolkit performs diarization — figuring out where each speaker's turns begin and end — and a second model, Titanet, generates a voiceprint for each turn and checks it against speakers you've enrolled ahead of time. Finally, a locally-run language model, Qwen2.5, reads the finished transcript to produce a summary and extract names, organizations, and dates. A job queue coordinates all of this in the background, so the interface stays responsive while the heavy processing happens on the GPU.</a:t>
            </a:r>
            <a:endParaRPr lang="en-US" sz="2000" b="0" u="none" strike="noStrike">
              <a:solidFill>
                <a:srgbClr val="000000"/>
              </a:solidFill>
              <a:effectLst/>
              <a:uFillTx/>
              <a:latin typeface="Arial"/>
            </a:endParaRPr>
          </a:p>
        </p:txBody>
      </p:sp>
      <p:sp>
        <p:nvSpPr>
          <p:cNvPr id="18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D4B0A3-7EBD-4FAE-966D-722BE344B41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gives people and organizations working with sensitive Arabic audio a genuine alternative to cloud transcription — one where privacy isn't a trade-off. It's already a working, end-to-end pipeline, tested on real hardware across two different machines: upload or record real speech, and get back an accurate transcript with speaker attribution, entirely offline after the initial one-time model setup.</a:t>
            </a:r>
            <a:endParaRPr lang="en-US" sz="2000" b="0" u="none" strike="noStrike">
              <a:solidFill>
                <a:srgbClr val="000000"/>
              </a:solidFill>
              <a:effectLst/>
              <a:uFillTx/>
              <a:latin typeface="Arial"/>
            </a:endParaRPr>
          </a:p>
        </p:txBody>
      </p:sp>
      <p:sp>
        <p:nvSpPr>
          <p:cNvPr id="18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C81ED2-3605-415B-BE2C-F2DA6B6B021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5680" cy="3085560"/>
          </a:xfrm>
          <a:prstGeom prst="rect">
            <a:avLst/>
          </a:prstGeom>
          <a:ln w="0">
            <a:noFill/>
          </a:ln>
        </p:spPr>
      </p:sp>
      <p:sp>
        <p:nvSpPr>
          <p:cNvPr id="1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Live demo: record or upload a short clip, show the transcript and speaker timeline appear in the interface. From here, the roadmap is: finishing speaker enrollment in the interface, handling longer recordings end to end, wiring in summarization and translation, and then a formal evaluation phase — measuring transcription accuracy and speaker recognition against a real test set, so every number we report is backed by evidence, not assumption.</a:t>
            </a:r>
            <a:endParaRPr lang="en-US" sz="2000" b="0" u="none" strike="noStrike">
              <a:solidFill>
                <a:srgbClr val="000000"/>
              </a:solidFill>
              <a:effectLst/>
              <a:uFillTx/>
              <a:latin typeface="Arial"/>
            </a:endParaRPr>
          </a:p>
        </p:txBody>
      </p:sp>
      <p:sp>
        <p:nvSpPr>
          <p:cNvPr id="186"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EA04EEF-D24D-45ED-9F46-97AF08EBE95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slide for Q&amp;A: the full infrastructure stack behind the pipeline. Angular talks to a FastAPI backend, which hands audio jobs to Celery, using Valkey as the message broker so the API responds instantly instead of blocking on GPU work. Postgres holds all structured data — jobs, transcripts, speakers, turns — while MinIO stores the raw audio files themselves, the same S3-compatible pattern real cloud deployments use, just running locally. Everything ships as Docker containers, and all AI inference — Whisper, NeMo, Titanet, Qwen2.5 — runs on the local GPU, which is the technical foundation of the privacy claim: there's no cloud dependency anywhere in the loop.</a:t>
            </a:r>
            <a:endParaRPr lang="en-US" sz="2000" b="0" u="none" strike="noStrike">
              <a:solidFill>
                <a:srgbClr val="000000"/>
              </a:solidFill>
              <a:effectLst/>
              <a:uFillTx/>
              <a:latin typeface="Arial"/>
            </a:endParaRPr>
          </a:p>
        </p:txBody>
      </p:sp>
      <p:sp>
        <p:nvSpPr>
          <p:cNvPr id="18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BC65E57-F7B4-480E-805D-584115945F2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7233F"/>
        </a:solidFill>
      </p:bgPr>
    </p:bg>
    <p:spTree>
      <p:nvGrpSpPr>
        <p:cNvPr id="1" name=""/>
        <p:cNvGrpSpPr/>
        <p:nvPr/>
      </p:nvGrpSpPr>
      <p:grpSpPr>
        <a:xfrm>
          <a:off x="0" y="0"/>
          <a:ext cx="0" cy="0"/>
          <a:chOff x="0" y="0"/>
          <a:chExt cx="0" cy="0"/>
        </a:xfrm>
      </p:grpSpPr>
      <p:sp>
        <p:nvSpPr>
          <p:cNvPr id="10" name="Shape 0"/>
          <p:cNvSpPr/>
          <p:nvPr/>
        </p:nvSpPr>
        <p:spPr>
          <a:xfrm>
            <a:off x="5394960" y="914400"/>
            <a:ext cx="1371240" cy="1371240"/>
          </a:xfrm>
          <a:prstGeom prst="ellipse">
            <a:avLst/>
          </a:prstGeom>
          <a:solidFill>
            <a:srgbClr val="1B2A4A"/>
          </a:solidFill>
          <a:ln w="19050">
            <a:solidFill>
              <a:srgbClr val="3FA7D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 name="Image 0" descr="preencoded.png"/>
          <p:cNvPicPr/>
          <p:nvPr/>
        </p:nvPicPr>
        <p:blipFill>
          <a:blip r:embed="rId1"/>
          <a:stretch/>
        </p:blipFill>
        <p:spPr>
          <a:xfrm>
            <a:off x="5715000" y="1234440"/>
            <a:ext cx="731160" cy="731160"/>
          </a:xfrm>
          <a:prstGeom prst="rect">
            <a:avLst/>
          </a:prstGeom>
          <a:noFill/>
          <a:ln w="0">
            <a:noFill/>
          </a:ln>
        </p:spPr>
      </p:pic>
      <p:sp>
        <p:nvSpPr>
          <p:cNvPr id="12" name="Text 1"/>
          <p:cNvSpPr/>
          <p:nvPr/>
        </p:nvSpPr>
        <p:spPr>
          <a:xfrm>
            <a:off x="0" y="2606040"/>
            <a:ext cx="1216116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000" b="1" u="none" strike="noStrike">
                <a:solidFill>
                  <a:srgbClr val="FFFFFF"/>
                </a:solidFill>
                <a:effectLst/>
                <a:uFillTx/>
                <a:latin typeface="Cambria"/>
                <a:ea typeface="Cambria"/>
              </a:rPr>
              <a:t>VOICE</a:t>
            </a:r>
            <a:endParaRPr lang="en-US" sz="6000" b="0" u="none" strike="noStrike">
              <a:solidFill>
                <a:srgbClr val="FFFFFF"/>
              </a:solidFill>
              <a:effectLst/>
              <a:uFillTx/>
              <a:latin typeface="Arial"/>
            </a:endParaRPr>
          </a:p>
        </p:txBody>
      </p:sp>
      <p:sp>
        <p:nvSpPr>
          <p:cNvPr id="13" name="Text 2"/>
          <p:cNvSpPr/>
          <p:nvPr/>
        </p:nvSpPr>
        <p:spPr>
          <a:xfrm>
            <a:off x="0" y="3611880"/>
            <a:ext cx="1216116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3FA7D6"/>
                </a:solidFill>
                <a:effectLst/>
                <a:uFillTx/>
                <a:latin typeface="Calibri"/>
                <a:ea typeface="Calibri"/>
              </a:rPr>
              <a:t>Local, Arabic-First Speech Intelligence</a:t>
            </a:r>
            <a:endParaRPr lang="en-US" sz="2000" b="0" u="none" strike="noStrike">
              <a:solidFill>
                <a:srgbClr val="FFFFFF"/>
              </a:solidFill>
              <a:effectLst/>
              <a:uFillTx/>
              <a:latin typeface="Arial"/>
            </a:endParaRPr>
          </a:p>
        </p:txBody>
      </p:sp>
      <p:sp>
        <p:nvSpPr>
          <p:cNvPr id="14" name="Text 3"/>
          <p:cNvSpPr/>
          <p:nvPr/>
        </p:nvSpPr>
        <p:spPr>
          <a:xfrm>
            <a:off x="0" y="4160520"/>
            <a:ext cx="121611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F2B134"/>
                </a:solidFill>
                <a:effectLst/>
                <a:uFillTx/>
                <a:latin typeface="Calibri"/>
                <a:ea typeface="Calibri"/>
              </a:rPr>
              <a:t>Fully local  ·  No cloud  ·  No compromise</a:t>
            </a:r>
            <a:endParaRPr lang="en-US" sz="1400" b="0" u="none" strike="noStrike">
              <a:solidFill>
                <a:srgbClr val="FFFFFF"/>
              </a:solidFill>
              <a:effectLst/>
              <a:uFillTx/>
              <a:latin typeface="Arial"/>
            </a:endParaRPr>
          </a:p>
        </p:txBody>
      </p:sp>
      <p:sp>
        <p:nvSpPr>
          <p:cNvPr id="15" name="Text 4"/>
          <p:cNvSpPr/>
          <p:nvPr/>
        </p:nvSpPr>
        <p:spPr>
          <a:xfrm>
            <a:off x="0" y="6263640"/>
            <a:ext cx="1216116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9AA7BE"/>
                </a:solidFill>
                <a:effectLst/>
                <a:uFillTx/>
                <a:latin typeface="Calibri"/>
                <a:ea typeface="Calibri"/>
              </a:rPr>
              <a:t>Hiba  ·  Eddy</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Text 0"/>
          <p:cNvSpPr/>
          <p:nvPr/>
        </p:nvSpPr>
        <p:spPr>
          <a:xfrm>
            <a:off x="548640" y="457200"/>
            <a:ext cx="91436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17233F"/>
                </a:solidFill>
                <a:effectLst/>
                <a:uFillTx/>
                <a:latin typeface="Cambria"/>
                <a:ea typeface="Cambria"/>
              </a:rPr>
              <a:t>The Problem</a:t>
            </a:r>
            <a:endParaRPr lang="en-US" sz="3600" b="0" u="none" strike="noStrike">
              <a:solidFill>
                <a:srgbClr val="000000"/>
              </a:solidFill>
              <a:effectLst/>
              <a:uFillTx/>
              <a:latin typeface="Arial"/>
            </a:endParaRPr>
          </a:p>
        </p:txBody>
      </p:sp>
      <p:sp>
        <p:nvSpPr>
          <p:cNvPr id="17" name="Text 1"/>
          <p:cNvSpPr/>
          <p:nvPr/>
        </p:nvSpPr>
        <p:spPr>
          <a:xfrm>
            <a:off x="9692640" y="567000"/>
            <a:ext cx="1919880" cy="365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6B7280"/>
                </a:solidFill>
                <a:effectLst/>
                <a:uFillTx/>
                <a:latin typeface="Calibri"/>
                <a:ea typeface="Calibri"/>
              </a:rPr>
              <a:t>00:00 – 00:30</a:t>
            </a:r>
            <a:endParaRPr lang="en-US" sz="1200" b="0" u="none" strike="noStrike">
              <a:solidFill>
                <a:srgbClr val="000000"/>
              </a:solidFill>
              <a:effectLst/>
              <a:uFillTx/>
              <a:latin typeface="Arial"/>
            </a:endParaRPr>
          </a:p>
        </p:txBody>
      </p:sp>
      <p:sp>
        <p:nvSpPr>
          <p:cNvPr id="18" name="Shape 2"/>
          <p:cNvSpPr/>
          <p:nvPr/>
        </p:nvSpPr>
        <p:spPr>
          <a:xfrm>
            <a:off x="548640" y="1600200"/>
            <a:ext cx="822600" cy="82260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9" name="Image 0" descr="preencoded.png"/>
          <p:cNvPicPr/>
          <p:nvPr/>
        </p:nvPicPr>
        <p:blipFill>
          <a:blip r:embed="rId1"/>
          <a:stretch/>
        </p:blipFill>
        <p:spPr>
          <a:xfrm>
            <a:off x="758880" y="1810440"/>
            <a:ext cx="402120" cy="402120"/>
          </a:xfrm>
          <a:prstGeom prst="rect">
            <a:avLst/>
          </a:prstGeom>
          <a:noFill/>
          <a:ln w="0">
            <a:noFill/>
          </a:ln>
        </p:spPr>
      </p:pic>
      <p:sp>
        <p:nvSpPr>
          <p:cNvPr id="20" name="Text 3"/>
          <p:cNvSpPr/>
          <p:nvPr/>
        </p:nvSpPr>
        <p:spPr>
          <a:xfrm>
            <a:off x="1600200" y="1572840"/>
            <a:ext cx="9966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7233F"/>
                </a:solidFill>
                <a:effectLst/>
                <a:uFillTx/>
                <a:latin typeface="Calibri"/>
                <a:ea typeface="Calibri"/>
              </a:rPr>
              <a:t>Valuable audio goes unused</a:t>
            </a:r>
            <a:endParaRPr lang="en-US" sz="1800" b="0" u="none" strike="noStrike">
              <a:solidFill>
                <a:srgbClr val="000000"/>
              </a:solidFill>
              <a:effectLst/>
              <a:uFillTx/>
              <a:latin typeface="Arial"/>
            </a:endParaRPr>
          </a:p>
        </p:txBody>
      </p:sp>
      <p:sp>
        <p:nvSpPr>
          <p:cNvPr id="21" name="Text 4"/>
          <p:cNvSpPr/>
          <p:nvPr/>
        </p:nvSpPr>
        <p:spPr>
          <a:xfrm>
            <a:off x="1600200" y="1984320"/>
            <a:ext cx="99666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B7280"/>
                </a:solidFill>
                <a:effectLst/>
                <a:uFillTx/>
                <a:latin typeface="Calibri"/>
                <a:ea typeface="Calibri"/>
              </a:rPr>
              <a:t>Meetings, interviews, and calls stay untranscribed and unsearchable — the information inside them is effectively lost.</a:t>
            </a:r>
            <a:endParaRPr lang="en-US" sz="1400" b="0" u="none" strike="noStrike">
              <a:solidFill>
                <a:srgbClr val="000000"/>
              </a:solidFill>
              <a:effectLst/>
              <a:uFillTx/>
              <a:latin typeface="Arial"/>
            </a:endParaRPr>
          </a:p>
        </p:txBody>
      </p:sp>
      <p:sp>
        <p:nvSpPr>
          <p:cNvPr id="22" name="Shape 5"/>
          <p:cNvSpPr/>
          <p:nvPr/>
        </p:nvSpPr>
        <p:spPr>
          <a:xfrm>
            <a:off x="548640" y="3017520"/>
            <a:ext cx="822600" cy="82260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3" name="Image 1" descr="preencoded.png"/>
          <p:cNvPicPr/>
          <p:nvPr/>
        </p:nvPicPr>
        <p:blipFill>
          <a:blip r:embed="rId2"/>
          <a:stretch/>
        </p:blipFill>
        <p:spPr>
          <a:xfrm>
            <a:off x="758880" y="3227760"/>
            <a:ext cx="402120" cy="402120"/>
          </a:xfrm>
          <a:prstGeom prst="rect">
            <a:avLst/>
          </a:prstGeom>
          <a:noFill/>
          <a:ln w="0">
            <a:noFill/>
          </a:ln>
        </p:spPr>
      </p:pic>
      <p:sp>
        <p:nvSpPr>
          <p:cNvPr id="24" name="Text 6"/>
          <p:cNvSpPr/>
          <p:nvPr/>
        </p:nvSpPr>
        <p:spPr>
          <a:xfrm>
            <a:off x="1600200" y="2990160"/>
            <a:ext cx="9966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7233F"/>
                </a:solidFill>
                <a:effectLst/>
                <a:uFillTx/>
                <a:latin typeface="Calibri"/>
                <a:ea typeface="Calibri"/>
              </a:rPr>
              <a:t>Arabic is underserved</a:t>
            </a:r>
            <a:endParaRPr lang="en-US" sz="1800" b="0" u="none" strike="noStrike">
              <a:solidFill>
                <a:srgbClr val="000000"/>
              </a:solidFill>
              <a:effectLst/>
              <a:uFillTx/>
              <a:latin typeface="Arial"/>
            </a:endParaRPr>
          </a:p>
        </p:txBody>
      </p:sp>
      <p:sp>
        <p:nvSpPr>
          <p:cNvPr id="25" name="Text 7"/>
          <p:cNvSpPr/>
          <p:nvPr/>
        </p:nvSpPr>
        <p:spPr>
          <a:xfrm>
            <a:off x="1600200" y="3401640"/>
            <a:ext cx="99666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B7280"/>
                </a:solidFill>
                <a:effectLst/>
                <a:uFillTx/>
                <a:latin typeface="Calibri"/>
                <a:ea typeface="Calibri"/>
              </a:rPr>
              <a:t>Mainstream transcription tools are unreliable across Arabic dialects, leaving a real gap in coverage.</a:t>
            </a:r>
            <a:endParaRPr lang="en-US" sz="1400" b="0" u="none" strike="noStrike">
              <a:solidFill>
                <a:srgbClr val="000000"/>
              </a:solidFill>
              <a:effectLst/>
              <a:uFillTx/>
              <a:latin typeface="Arial"/>
            </a:endParaRPr>
          </a:p>
        </p:txBody>
      </p:sp>
      <p:sp>
        <p:nvSpPr>
          <p:cNvPr id="26" name="Shape 8"/>
          <p:cNvSpPr/>
          <p:nvPr/>
        </p:nvSpPr>
        <p:spPr>
          <a:xfrm>
            <a:off x="548640" y="4434840"/>
            <a:ext cx="822600" cy="82260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7" name="Image 2" descr="preencoded.png"/>
          <p:cNvPicPr/>
          <p:nvPr/>
        </p:nvPicPr>
        <p:blipFill>
          <a:blip r:embed="rId3"/>
          <a:stretch/>
        </p:blipFill>
        <p:spPr>
          <a:xfrm>
            <a:off x="758880" y="4645080"/>
            <a:ext cx="402120" cy="402120"/>
          </a:xfrm>
          <a:prstGeom prst="rect">
            <a:avLst/>
          </a:prstGeom>
          <a:noFill/>
          <a:ln w="0">
            <a:noFill/>
          </a:ln>
        </p:spPr>
      </p:pic>
      <p:sp>
        <p:nvSpPr>
          <p:cNvPr id="28" name="Text 9"/>
          <p:cNvSpPr/>
          <p:nvPr/>
        </p:nvSpPr>
        <p:spPr>
          <a:xfrm>
            <a:off x="1600200" y="4407480"/>
            <a:ext cx="9966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7233F"/>
                </a:solidFill>
                <a:effectLst/>
                <a:uFillTx/>
                <a:latin typeface="Calibri"/>
                <a:ea typeface="Calibri"/>
              </a:rPr>
              <a:t>Cloud tools risk privacy</a:t>
            </a:r>
            <a:endParaRPr lang="en-US" sz="1800" b="0" u="none" strike="noStrike">
              <a:solidFill>
                <a:srgbClr val="000000"/>
              </a:solidFill>
              <a:effectLst/>
              <a:uFillTx/>
              <a:latin typeface="Arial"/>
            </a:endParaRPr>
          </a:p>
        </p:txBody>
      </p:sp>
      <p:sp>
        <p:nvSpPr>
          <p:cNvPr id="29" name="Text 10"/>
          <p:cNvSpPr/>
          <p:nvPr/>
        </p:nvSpPr>
        <p:spPr>
          <a:xfrm>
            <a:off x="1600200" y="4818960"/>
            <a:ext cx="99666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B7280"/>
                </a:solidFill>
                <a:effectLst/>
                <a:uFillTx/>
                <a:latin typeface="Calibri"/>
                <a:ea typeface="Calibri"/>
              </a:rPr>
              <a:t>The tools that do work well require sending audio to the cloud — a dealbreaker for legal, medical, or personal recordings.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Text 0"/>
          <p:cNvSpPr/>
          <p:nvPr/>
        </p:nvSpPr>
        <p:spPr>
          <a:xfrm>
            <a:off x="548640" y="457200"/>
            <a:ext cx="91436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17233F"/>
                </a:solidFill>
                <a:effectLst/>
                <a:uFillTx/>
                <a:latin typeface="Cambria"/>
                <a:ea typeface="Cambria"/>
              </a:rPr>
              <a:t>The Solution</a:t>
            </a:r>
            <a:endParaRPr lang="en-US" sz="3600" b="0" u="none" strike="noStrike">
              <a:solidFill>
                <a:srgbClr val="000000"/>
              </a:solidFill>
              <a:effectLst/>
              <a:uFillTx/>
              <a:latin typeface="Arial"/>
            </a:endParaRPr>
          </a:p>
        </p:txBody>
      </p:sp>
      <p:sp>
        <p:nvSpPr>
          <p:cNvPr id="31" name="Text 1"/>
          <p:cNvSpPr/>
          <p:nvPr/>
        </p:nvSpPr>
        <p:spPr>
          <a:xfrm>
            <a:off x="9692640" y="567000"/>
            <a:ext cx="1919880" cy="365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6B7280"/>
                </a:solidFill>
                <a:effectLst/>
                <a:uFillTx/>
                <a:latin typeface="Calibri"/>
                <a:ea typeface="Calibri"/>
              </a:rPr>
              <a:t>00:30 – 01:15</a:t>
            </a:r>
            <a:endParaRPr lang="en-US" sz="1200" b="0" u="none" strike="noStrike">
              <a:solidFill>
                <a:srgbClr val="000000"/>
              </a:solidFill>
              <a:effectLst/>
              <a:uFillTx/>
              <a:latin typeface="Arial"/>
            </a:endParaRPr>
          </a:p>
        </p:txBody>
      </p:sp>
      <p:sp>
        <p:nvSpPr>
          <p:cNvPr id="32" name="Text 2"/>
          <p:cNvSpPr/>
          <p:nvPr/>
        </p:nvSpPr>
        <p:spPr>
          <a:xfrm>
            <a:off x="548640" y="1234440"/>
            <a:ext cx="11063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6B7280"/>
                </a:solidFill>
                <a:effectLst/>
                <a:uFillTx/>
                <a:latin typeface="Calibri"/>
                <a:ea typeface="Calibri"/>
              </a:rPr>
              <a:t>VOICE is a fully local, Arabic-first speech intelligence system. Upload or record audio and get back:</a:t>
            </a:r>
            <a:endParaRPr lang="en-US" sz="1500" b="0" u="none" strike="noStrike">
              <a:solidFill>
                <a:srgbClr val="000000"/>
              </a:solidFill>
              <a:effectLst/>
              <a:uFillTx/>
              <a:latin typeface="Arial"/>
            </a:endParaRPr>
          </a:p>
        </p:txBody>
      </p:sp>
      <p:sp>
        <p:nvSpPr>
          <p:cNvPr id="33" name="Shape 3"/>
          <p:cNvSpPr/>
          <p:nvPr/>
        </p:nvSpPr>
        <p:spPr>
          <a:xfrm>
            <a:off x="548640" y="1965960"/>
            <a:ext cx="2605680" cy="1874160"/>
          </a:xfrm>
          <a:prstGeom prst="roundRect">
            <a:avLst>
              <a:gd name="adj" fmla="val 4878"/>
            </a:avLst>
          </a:prstGeom>
          <a:solidFill>
            <a:srgbClr val="F4F7FB"/>
          </a:solidFill>
          <a:ln w="12700">
            <a:solidFill>
              <a:srgbClr val="E3E9F2"/>
            </a:solidFill>
            <a:round/>
          </a:ln>
          <a:effectLst>
            <a:outerShdw algn="bl" blurRad="76320" dir="5400000" dist="25560" kx="0" ky="0" rotWithShape="0" sx="100000" sy="100000">
              <a:srgbClr val="0F1A3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 name="Shape 4"/>
          <p:cNvSpPr/>
          <p:nvPr/>
        </p:nvSpPr>
        <p:spPr>
          <a:xfrm>
            <a:off x="1486080" y="2194560"/>
            <a:ext cx="731160" cy="7311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5" name="Image 0" descr="preencoded.png"/>
          <p:cNvPicPr/>
          <p:nvPr/>
        </p:nvPicPr>
        <p:blipFill>
          <a:blip r:embed="rId1"/>
          <a:stretch/>
        </p:blipFill>
        <p:spPr>
          <a:xfrm>
            <a:off x="1668960" y="2377440"/>
            <a:ext cx="365400" cy="365400"/>
          </a:xfrm>
          <a:prstGeom prst="rect">
            <a:avLst/>
          </a:prstGeom>
          <a:noFill/>
          <a:ln w="0">
            <a:noFill/>
          </a:ln>
        </p:spPr>
      </p:pic>
      <p:sp>
        <p:nvSpPr>
          <p:cNvPr id="36" name="Text 5"/>
          <p:cNvSpPr/>
          <p:nvPr/>
        </p:nvSpPr>
        <p:spPr>
          <a:xfrm>
            <a:off x="658440" y="2990160"/>
            <a:ext cx="23860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7233F"/>
                </a:solidFill>
                <a:effectLst/>
                <a:uFillTx/>
                <a:latin typeface="Calibri"/>
                <a:ea typeface="Calibri"/>
              </a:rPr>
              <a:t>Transcript</a:t>
            </a:r>
            <a:endParaRPr lang="en-US" sz="1500" b="0" u="none" strike="noStrike">
              <a:solidFill>
                <a:srgbClr val="000000"/>
              </a:solidFill>
              <a:effectLst/>
              <a:uFillTx/>
              <a:latin typeface="Arial"/>
            </a:endParaRPr>
          </a:p>
        </p:txBody>
      </p:sp>
      <p:sp>
        <p:nvSpPr>
          <p:cNvPr id="37" name="Text 6"/>
          <p:cNvSpPr/>
          <p:nvPr/>
        </p:nvSpPr>
        <p:spPr>
          <a:xfrm>
            <a:off x="713160" y="3300840"/>
            <a:ext cx="227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B7280"/>
                </a:solidFill>
                <a:effectLst/>
                <a:uFillTx/>
                <a:latin typeface="Calibri"/>
                <a:ea typeface="Calibri"/>
              </a:rPr>
              <a:t>A full, accurate text transcript of the audio.</a:t>
            </a:r>
            <a:endParaRPr lang="en-US" sz="1100" b="0" u="none" strike="noStrike">
              <a:solidFill>
                <a:srgbClr val="000000"/>
              </a:solidFill>
              <a:effectLst/>
              <a:uFillTx/>
              <a:latin typeface="Arial"/>
            </a:endParaRPr>
          </a:p>
        </p:txBody>
      </p:sp>
      <p:sp>
        <p:nvSpPr>
          <p:cNvPr id="38" name="Shape 7"/>
          <p:cNvSpPr/>
          <p:nvPr/>
        </p:nvSpPr>
        <p:spPr>
          <a:xfrm>
            <a:off x="3410640" y="1965960"/>
            <a:ext cx="2605680" cy="1874160"/>
          </a:xfrm>
          <a:prstGeom prst="roundRect">
            <a:avLst>
              <a:gd name="adj" fmla="val 4878"/>
            </a:avLst>
          </a:prstGeom>
          <a:solidFill>
            <a:srgbClr val="F4F7FB"/>
          </a:solidFill>
          <a:ln w="12700">
            <a:solidFill>
              <a:srgbClr val="E3E9F2"/>
            </a:solidFill>
            <a:round/>
          </a:ln>
          <a:effectLst>
            <a:outerShdw algn="bl" blurRad="76320" dir="5400000" dist="25560" kx="0" ky="0" rotWithShape="0" sx="100000" sy="100000">
              <a:srgbClr val="0F1A3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Shape 8"/>
          <p:cNvSpPr/>
          <p:nvPr/>
        </p:nvSpPr>
        <p:spPr>
          <a:xfrm>
            <a:off x="4348080" y="2194560"/>
            <a:ext cx="731160" cy="7311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0" name="Image 1" descr="preencoded.png"/>
          <p:cNvPicPr/>
          <p:nvPr/>
        </p:nvPicPr>
        <p:blipFill>
          <a:blip r:embed="rId2"/>
          <a:stretch/>
        </p:blipFill>
        <p:spPr>
          <a:xfrm>
            <a:off x="4530960" y="2377440"/>
            <a:ext cx="365400" cy="365400"/>
          </a:xfrm>
          <a:prstGeom prst="rect">
            <a:avLst/>
          </a:prstGeom>
          <a:noFill/>
          <a:ln w="0">
            <a:noFill/>
          </a:ln>
        </p:spPr>
      </p:pic>
      <p:sp>
        <p:nvSpPr>
          <p:cNvPr id="41" name="Text 9"/>
          <p:cNvSpPr/>
          <p:nvPr/>
        </p:nvSpPr>
        <p:spPr>
          <a:xfrm>
            <a:off x="3520440" y="2990160"/>
            <a:ext cx="23860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7233F"/>
                </a:solidFill>
                <a:effectLst/>
                <a:uFillTx/>
                <a:latin typeface="Calibri"/>
                <a:ea typeface="Calibri"/>
              </a:rPr>
              <a:t>Speaker Timeline</a:t>
            </a:r>
            <a:endParaRPr lang="en-US" sz="1500" b="0" u="none" strike="noStrike">
              <a:solidFill>
                <a:srgbClr val="000000"/>
              </a:solidFill>
              <a:effectLst/>
              <a:uFillTx/>
              <a:latin typeface="Arial"/>
            </a:endParaRPr>
          </a:p>
        </p:txBody>
      </p:sp>
      <p:sp>
        <p:nvSpPr>
          <p:cNvPr id="42" name="Text 10"/>
          <p:cNvSpPr/>
          <p:nvPr/>
        </p:nvSpPr>
        <p:spPr>
          <a:xfrm>
            <a:off x="3575160" y="3300840"/>
            <a:ext cx="227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B7280"/>
                </a:solidFill>
                <a:effectLst/>
                <a:uFillTx/>
                <a:latin typeface="Calibri"/>
                <a:ea typeface="Calibri"/>
              </a:rPr>
              <a:t>Who spoke, and exactly when, across the recording.</a:t>
            </a:r>
            <a:endParaRPr lang="en-US" sz="1100" b="0" u="none" strike="noStrike">
              <a:solidFill>
                <a:srgbClr val="000000"/>
              </a:solidFill>
              <a:effectLst/>
              <a:uFillTx/>
              <a:latin typeface="Arial"/>
            </a:endParaRPr>
          </a:p>
        </p:txBody>
      </p:sp>
      <p:sp>
        <p:nvSpPr>
          <p:cNvPr id="43" name="Shape 11"/>
          <p:cNvSpPr/>
          <p:nvPr/>
        </p:nvSpPr>
        <p:spPr>
          <a:xfrm>
            <a:off x="6272640" y="1965960"/>
            <a:ext cx="2605680" cy="1874160"/>
          </a:xfrm>
          <a:prstGeom prst="roundRect">
            <a:avLst>
              <a:gd name="adj" fmla="val 4878"/>
            </a:avLst>
          </a:prstGeom>
          <a:solidFill>
            <a:srgbClr val="F4F7FB"/>
          </a:solidFill>
          <a:ln w="12700">
            <a:solidFill>
              <a:srgbClr val="E3E9F2"/>
            </a:solidFill>
            <a:round/>
          </a:ln>
          <a:effectLst>
            <a:outerShdw algn="bl" blurRad="76320" dir="5400000" dist="25560" kx="0" ky="0" rotWithShape="0" sx="100000" sy="100000">
              <a:srgbClr val="0F1A3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 name="Shape 12"/>
          <p:cNvSpPr/>
          <p:nvPr/>
        </p:nvSpPr>
        <p:spPr>
          <a:xfrm>
            <a:off x="7210080" y="2194560"/>
            <a:ext cx="731160" cy="7311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5" name="Image 2" descr="preencoded.png"/>
          <p:cNvPicPr/>
          <p:nvPr/>
        </p:nvPicPr>
        <p:blipFill>
          <a:blip r:embed="rId3"/>
          <a:stretch/>
        </p:blipFill>
        <p:spPr>
          <a:xfrm>
            <a:off x="7392960" y="2377440"/>
            <a:ext cx="365400" cy="365400"/>
          </a:xfrm>
          <a:prstGeom prst="rect">
            <a:avLst/>
          </a:prstGeom>
          <a:noFill/>
          <a:ln w="0">
            <a:noFill/>
          </a:ln>
        </p:spPr>
      </p:pic>
      <p:sp>
        <p:nvSpPr>
          <p:cNvPr id="46" name="Text 13"/>
          <p:cNvSpPr/>
          <p:nvPr/>
        </p:nvSpPr>
        <p:spPr>
          <a:xfrm>
            <a:off x="6382440" y="2990160"/>
            <a:ext cx="23860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7233F"/>
                </a:solidFill>
                <a:effectLst/>
                <a:uFillTx/>
                <a:latin typeface="Calibri"/>
                <a:ea typeface="Calibri"/>
              </a:rPr>
              <a:t>Voice Recognition</a:t>
            </a:r>
            <a:endParaRPr lang="en-US" sz="1500" b="0" u="none" strike="noStrike">
              <a:solidFill>
                <a:srgbClr val="000000"/>
              </a:solidFill>
              <a:effectLst/>
              <a:uFillTx/>
              <a:latin typeface="Arial"/>
            </a:endParaRPr>
          </a:p>
        </p:txBody>
      </p:sp>
      <p:sp>
        <p:nvSpPr>
          <p:cNvPr id="47" name="Text 14"/>
          <p:cNvSpPr/>
          <p:nvPr/>
        </p:nvSpPr>
        <p:spPr>
          <a:xfrm>
            <a:off x="6437520" y="3300840"/>
            <a:ext cx="227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B7280"/>
                </a:solidFill>
                <a:effectLst/>
                <a:uFillTx/>
                <a:latin typeface="Calibri"/>
                <a:ea typeface="Calibri"/>
              </a:rPr>
              <a:t>Matches turns against voices you've enrolled.</a:t>
            </a:r>
            <a:endParaRPr lang="en-US" sz="1100" b="0" u="none" strike="noStrike">
              <a:solidFill>
                <a:srgbClr val="000000"/>
              </a:solidFill>
              <a:effectLst/>
              <a:uFillTx/>
              <a:latin typeface="Arial"/>
            </a:endParaRPr>
          </a:p>
        </p:txBody>
      </p:sp>
      <p:sp>
        <p:nvSpPr>
          <p:cNvPr id="48" name="Shape 15"/>
          <p:cNvSpPr/>
          <p:nvPr/>
        </p:nvSpPr>
        <p:spPr>
          <a:xfrm>
            <a:off x="9135000" y="1965960"/>
            <a:ext cx="2605680" cy="1874160"/>
          </a:xfrm>
          <a:prstGeom prst="roundRect">
            <a:avLst>
              <a:gd name="adj" fmla="val 4878"/>
            </a:avLst>
          </a:prstGeom>
          <a:solidFill>
            <a:srgbClr val="F4F7FB"/>
          </a:solidFill>
          <a:ln w="12700">
            <a:solidFill>
              <a:srgbClr val="E3E9F2"/>
            </a:solidFill>
            <a:round/>
          </a:ln>
          <a:effectLst>
            <a:outerShdw algn="bl" blurRad="76320" dir="5400000" dist="25560" kx="0" ky="0" rotWithShape="0" sx="100000" sy="100000">
              <a:srgbClr val="0F1A3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Shape 16"/>
          <p:cNvSpPr/>
          <p:nvPr/>
        </p:nvSpPr>
        <p:spPr>
          <a:xfrm>
            <a:off x="10072080" y="2194560"/>
            <a:ext cx="731160" cy="7311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 name="Image 3" descr="preencoded.png"/>
          <p:cNvPicPr/>
          <p:nvPr/>
        </p:nvPicPr>
        <p:blipFill>
          <a:blip r:embed="rId4"/>
          <a:stretch/>
        </p:blipFill>
        <p:spPr>
          <a:xfrm>
            <a:off x="10254960" y="2377440"/>
            <a:ext cx="365400" cy="365400"/>
          </a:xfrm>
          <a:prstGeom prst="rect">
            <a:avLst/>
          </a:prstGeom>
          <a:noFill/>
          <a:ln w="0">
            <a:noFill/>
          </a:ln>
        </p:spPr>
      </p:pic>
      <p:sp>
        <p:nvSpPr>
          <p:cNvPr id="51" name="Text 17"/>
          <p:cNvSpPr/>
          <p:nvPr/>
        </p:nvSpPr>
        <p:spPr>
          <a:xfrm>
            <a:off x="9244440" y="2990160"/>
            <a:ext cx="23860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7233F"/>
                </a:solidFill>
                <a:effectLst/>
                <a:uFillTx/>
                <a:latin typeface="Calibri"/>
                <a:ea typeface="Calibri"/>
              </a:rPr>
              <a:t>Summary &amp; Entities</a:t>
            </a:r>
            <a:endParaRPr lang="en-US" sz="1500" b="0" u="none" strike="noStrike">
              <a:solidFill>
                <a:srgbClr val="000000"/>
              </a:solidFill>
              <a:effectLst/>
              <a:uFillTx/>
              <a:latin typeface="Arial"/>
            </a:endParaRPr>
          </a:p>
        </p:txBody>
      </p:sp>
      <p:sp>
        <p:nvSpPr>
          <p:cNvPr id="52" name="Text 18"/>
          <p:cNvSpPr/>
          <p:nvPr/>
        </p:nvSpPr>
        <p:spPr>
          <a:xfrm>
            <a:off x="9299520" y="3300840"/>
            <a:ext cx="227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B7280"/>
                </a:solidFill>
                <a:effectLst/>
                <a:uFillTx/>
                <a:latin typeface="Calibri"/>
                <a:ea typeface="Calibri"/>
              </a:rPr>
              <a:t>Key points, names, orgs, and dates pulled out.</a:t>
            </a:r>
            <a:endParaRPr lang="en-US" sz="1100" b="0" u="none" strike="noStrike">
              <a:solidFill>
                <a:srgbClr val="000000"/>
              </a:solidFill>
              <a:effectLst/>
              <a:uFillTx/>
              <a:latin typeface="Arial"/>
            </a:endParaRPr>
          </a:p>
        </p:txBody>
      </p:sp>
      <p:sp>
        <p:nvSpPr>
          <p:cNvPr id="53" name="Shape 19"/>
          <p:cNvSpPr/>
          <p:nvPr/>
        </p:nvSpPr>
        <p:spPr>
          <a:xfrm>
            <a:off x="548640" y="4251960"/>
            <a:ext cx="11063880" cy="685440"/>
          </a:xfrm>
          <a:prstGeom prst="roundRect">
            <a:avLst>
              <a:gd name="adj" fmla="val 10667"/>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4" name="Image 4" descr="preencoded.png"/>
          <p:cNvPicPr/>
          <p:nvPr/>
        </p:nvPicPr>
        <p:blipFill>
          <a:blip r:embed="rId5"/>
          <a:stretch/>
        </p:blipFill>
        <p:spPr>
          <a:xfrm>
            <a:off x="914400" y="4434840"/>
            <a:ext cx="319680" cy="319680"/>
          </a:xfrm>
          <a:prstGeom prst="rect">
            <a:avLst/>
          </a:prstGeom>
          <a:noFill/>
          <a:ln w="0">
            <a:noFill/>
          </a:ln>
        </p:spPr>
      </p:pic>
      <p:sp>
        <p:nvSpPr>
          <p:cNvPr id="55" name="Text 20"/>
          <p:cNvSpPr/>
          <p:nvPr/>
        </p:nvSpPr>
        <p:spPr>
          <a:xfrm>
            <a:off x="1417320" y="4251960"/>
            <a:ext cx="99666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2B134"/>
                </a:solidFill>
                <a:effectLst/>
                <a:uFillTx/>
                <a:latin typeface="Calibri"/>
                <a:ea typeface="Calibri"/>
              </a:rPr>
              <a:t>100% local — nothing about what was said, or who said it, ever leaves your machine.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Text 0"/>
          <p:cNvSpPr/>
          <p:nvPr/>
        </p:nvSpPr>
        <p:spPr>
          <a:xfrm>
            <a:off x="548640" y="457200"/>
            <a:ext cx="91436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17233F"/>
                </a:solidFill>
                <a:effectLst/>
                <a:uFillTx/>
                <a:latin typeface="Cambria"/>
                <a:ea typeface="Cambria"/>
              </a:rPr>
              <a:t>How It Works</a:t>
            </a:r>
            <a:endParaRPr lang="en-US" sz="3600" b="0" u="none" strike="noStrike">
              <a:solidFill>
                <a:srgbClr val="000000"/>
              </a:solidFill>
              <a:effectLst/>
              <a:uFillTx/>
              <a:latin typeface="Arial"/>
            </a:endParaRPr>
          </a:p>
        </p:txBody>
      </p:sp>
      <p:sp>
        <p:nvSpPr>
          <p:cNvPr id="57" name="Text 1"/>
          <p:cNvSpPr/>
          <p:nvPr/>
        </p:nvSpPr>
        <p:spPr>
          <a:xfrm>
            <a:off x="9692640" y="567000"/>
            <a:ext cx="1919880" cy="365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6B7280"/>
                </a:solidFill>
                <a:effectLst/>
                <a:uFillTx/>
                <a:latin typeface="Calibri"/>
                <a:ea typeface="Calibri"/>
              </a:rPr>
              <a:t>01:15 – 02:00</a:t>
            </a:r>
            <a:endParaRPr lang="en-US" sz="1200" b="0" u="none" strike="noStrike">
              <a:solidFill>
                <a:srgbClr val="000000"/>
              </a:solidFill>
              <a:effectLst/>
              <a:uFillTx/>
              <a:latin typeface="Arial"/>
            </a:endParaRPr>
          </a:p>
        </p:txBody>
      </p:sp>
      <p:sp>
        <p:nvSpPr>
          <p:cNvPr id="58" name="Shape 2"/>
          <p:cNvSpPr/>
          <p:nvPr/>
        </p:nvSpPr>
        <p:spPr>
          <a:xfrm>
            <a:off x="1463040" y="1828800"/>
            <a:ext cx="914040" cy="91404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9" name="Image 0" descr="preencoded.png"/>
          <p:cNvPicPr/>
          <p:nvPr/>
        </p:nvPicPr>
        <p:blipFill>
          <a:blip r:embed="rId1"/>
          <a:stretch/>
        </p:blipFill>
        <p:spPr>
          <a:xfrm>
            <a:off x="1700640" y="2066400"/>
            <a:ext cx="438480" cy="438480"/>
          </a:xfrm>
          <a:prstGeom prst="rect">
            <a:avLst/>
          </a:prstGeom>
          <a:noFill/>
          <a:ln w="0">
            <a:noFill/>
          </a:ln>
        </p:spPr>
      </p:pic>
      <p:sp>
        <p:nvSpPr>
          <p:cNvPr id="60" name="Shape 3"/>
          <p:cNvSpPr/>
          <p:nvPr/>
        </p:nvSpPr>
        <p:spPr>
          <a:xfrm>
            <a:off x="2176200" y="1755720"/>
            <a:ext cx="310680" cy="310680"/>
          </a:xfrm>
          <a:prstGeom prst="ellipse">
            <a:avLst/>
          </a:prstGeom>
          <a:solidFill>
            <a:srgbClr val="F2B134"/>
          </a:solidFill>
          <a:ln w="190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 name="Text 4"/>
          <p:cNvSpPr/>
          <p:nvPr/>
        </p:nvSpPr>
        <p:spPr>
          <a:xfrm>
            <a:off x="2176200" y="17373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7233F"/>
                </a:solidFill>
                <a:effectLst/>
                <a:uFillTx/>
                <a:latin typeface="Calibri"/>
                <a:ea typeface="Calibri"/>
              </a:rPr>
              <a:t>1</a:t>
            </a:r>
            <a:endParaRPr lang="en-US" sz="1300" b="0" u="none" strike="noStrike">
              <a:solidFill>
                <a:srgbClr val="000000"/>
              </a:solidFill>
              <a:effectLst/>
              <a:uFillTx/>
              <a:latin typeface="Arial"/>
            </a:endParaRPr>
          </a:p>
        </p:txBody>
      </p:sp>
      <p:sp>
        <p:nvSpPr>
          <p:cNvPr id="62" name="Text 5"/>
          <p:cNvSpPr/>
          <p:nvPr/>
        </p:nvSpPr>
        <p:spPr>
          <a:xfrm>
            <a:off x="685800" y="288036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7233F"/>
                </a:solidFill>
                <a:effectLst/>
                <a:uFillTx/>
                <a:latin typeface="Calibri"/>
                <a:ea typeface="Calibri"/>
              </a:rPr>
              <a:t>Normalize</a:t>
            </a:r>
            <a:endParaRPr lang="en-US" sz="1600" b="0" u="none" strike="noStrike">
              <a:solidFill>
                <a:srgbClr val="000000"/>
              </a:solidFill>
              <a:effectLst/>
              <a:uFillTx/>
              <a:latin typeface="Arial"/>
            </a:endParaRPr>
          </a:p>
        </p:txBody>
      </p:sp>
      <p:sp>
        <p:nvSpPr>
          <p:cNvPr id="63" name="Text 6"/>
          <p:cNvSpPr/>
          <p:nvPr/>
        </p:nvSpPr>
        <p:spPr>
          <a:xfrm>
            <a:off x="731520" y="3246120"/>
            <a:ext cx="2377080" cy="914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50" b="0" u="none" strike="noStrike">
                <a:solidFill>
                  <a:srgbClr val="6B7280"/>
                </a:solidFill>
                <a:effectLst/>
                <a:uFillTx/>
                <a:latin typeface="Calibri"/>
                <a:ea typeface="Calibri"/>
              </a:rPr>
              <a:t>Audio is standardized to one clean format.</a:t>
            </a:r>
            <a:endParaRPr lang="en-US" sz="1150" b="0" u="none" strike="noStrike">
              <a:solidFill>
                <a:srgbClr val="000000"/>
              </a:solidFill>
              <a:effectLst/>
              <a:uFillTx/>
              <a:latin typeface="Arial"/>
            </a:endParaRPr>
          </a:p>
        </p:txBody>
      </p:sp>
      <p:sp>
        <p:nvSpPr>
          <p:cNvPr id="64" name="Shape 7"/>
          <p:cNvSpPr/>
          <p:nvPr/>
        </p:nvSpPr>
        <p:spPr>
          <a:xfrm>
            <a:off x="3227760" y="2148840"/>
            <a:ext cx="356400" cy="273960"/>
          </a:xfrm>
          <a:prstGeom prst="rightArrow">
            <a:avLst>
              <a:gd name="adj1" fmla="val 50000"/>
              <a:gd name="adj2" fmla="val 50000"/>
            </a:avLst>
          </a:prstGeom>
          <a:solidFill>
            <a:srgbClr val="C9D3E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Shape 8"/>
          <p:cNvSpPr/>
          <p:nvPr/>
        </p:nvSpPr>
        <p:spPr>
          <a:xfrm>
            <a:off x="4434840" y="1828800"/>
            <a:ext cx="914040" cy="914040"/>
          </a:xfrm>
          <a:prstGeom prst="ellipse">
            <a:avLst/>
          </a:prstGeom>
          <a:solidFill>
            <a:srgbClr val="3FA7D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6" name="Image 1" descr="preencoded.png"/>
          <p:cNvPicPr/>
          <p:nvPr/>
        </p:nvPicPr>
        <p:blipFill>
          <a:blip r:embed="rId2"/>
          <a:stretch/>
        </p:blipFill>
        <p:spPr>
          <a:xfrm>
            <a:off x="4672440" y="2066400"/>
            <a:ext cx="438480" cy="438480"/>
          </a:xfrm>
          <a:prstGeom prst="rect">
            <a:avLst/>
          </a:prstGeom>
          <a:noFill/>
          <a:ln w="0">
            <a:noFill/>
          </a:ln>
        </p:spPr>
      </p:pic>
      <p:sp>
        <p:nvSpPr>
          <p:cNvPr id="67" name="Shape 9"/>
          <p:cNvSpPr/>
          <p:nvPr/>
        </p:nvSpPr>
        <p:spPr>
          <a:xfrm>
            <a:off x="5148000" y="1755720"/>
            <a:ext cx="310680" cy="310680"/>
          </a:xfrm>
          <a:prstGeom prst="ellipse">
            <a:avLst/>
          </a:prstGeom>
          <a:solidFill>
            <a:srgbClr val="F2B134"/>
          </a:solidFill>
          <a:ln w="190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Text 10"/>
          <p:cNvSpPr/>
          <p:nvPr/>
        </p:nvSpPr>
        <p:spPr>
          <a:xfrm>
            <a:off x="5148000" y="17373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7233F"/>
                </a:solidFill>
                <a:effectLst/>
                <a:uFillTx/>
                <a:latin typeface="Calibri"/>
                <a:ea typeface="Calibri"/>
              </a:rPr>
              <a:t>2</a:t>
            </a:r>
            <a:endParaRPr lang="en-US" sz="1300" b="0" u="none" strike="noStrike">
              <a:solidFill>
                <a:srgbClr val="000000"/>
              </a:solidFill>
              <a:effectLst/>
              <a:uFillTx/>
              <a:latin typeface="Arial"/>
            </a:endParaRPr>
          </a:p>
        </p:txBody>
      </p:sp>
      <p:sp>
        <p:nvSpPr>
          <p:cNvPr id="69" name="Text 11"/>
          <p:cNvSpPr/>
          <p:nvPr/>
        </p:nvSpPr>
        <p:spPr>
          <a:xfrm>
            <a:off x="3657600" y="288036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7233F"/>
                </a:solidFill>
                <a:effectLst/>
                <a:uFillTx/>
                <a:latin typeface="Calibri"/>
                <a:ea typeface="Calibri"/>
              </a:rPr>
              <a:t>Transcribe</a:t>
            </a:r>
            <a:endParaRPr lang="en-US" sz="1600" b="0" u="none" strike="noStrike">
              <a:solidFill>
                <a:srgbClr val="000000"/>
              </a:solidFill>
              <a:effectLst/>
              <a:uFillTx/>
              <a:latin typeface="Arial"/>
            </a:endParaRPr>
          </a:p>
        </p:txBody>
      </p:sp>
      <p:sp>
        <p:nvSpPr>
          <p:cNvPr id="70" name="Text 12"/>
          <p:cNvSpPr/>
          <p:nvPr/>
        </p:nvSpPr>
        <p:spPr>
          <a:xfrm>
            <a:off x="3703320" y="3246120"/>
            <a:ext cx="2377080" cy="914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50" b="0" u="none" strike="noStrike">
                <a:solidFill>
                  <a:srgbClr val="6B7280"/>
                </a:solidFill>
                <a:effectLst/>
                <a:uFillTx/>
                <a:latin typeface="Calibri"/>
                <a:ea typeface="Calibri"/>
              </a:rPr>
              <a:t>Faster-Whisper converts speech to text, auto-detecting the language.</a:t>
            </a:r>
            <a:endParaRPr lang="en-US" sz="1150" b="0" u="none" strike="noStrike">
              <a:solidFill>
                <a:srgbClr val="000000"/>
              </a:solidFill>
              <a:effectLst/>
              <a:uFillTx/>
              <a:latin typeface="Arial"/>
            </a:endParaRPr>
          </a:p>
        </p:txBody>
      </p:sp>
      <p:sp>
        <p:nvSpPr>
          <p:cNvPr id="71" name="Shape 13"/>
          <p:cNvSpPr/>
          <p:nvPr/>
        </p:nvSpPr>
        <p:spPr>
          <a:xfrm>
            <a:off x="6199560" y="2148840"/>
            <a:ext cx="356400" cy="273960"/>
          </a:xfrm>
          <a:prstGeom prst="rightArrow">
            <a:avLst>
              <a:gd name="adj1" fmla="val 50000"/>
              <a:gd name="adj2" fmla="val 50000"/>
            </a:avLst>
          </a:prstGeom>
          <a:solidFill>
            <a:srgbClr val="C9D3E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Shape 14"/>
          <p:cNvSpPr/>
          <p:nvPr/>
        </p:nvSpPr>
        <p:spPr>
          <a:xfrm>
            <a:off x="7406640" y="1828800"/>
            <a:ext cx="914040" cy="91404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3" name="Image 2" descr="preencoded.png"/>
          <p:cNvPicPr/>
          <p:nvPr/>
        </p:nvPicPr>
        <p:blipFill>
          <a:blip r:embed="rId3"/>
          <a:stretch/>
        </p:blipFill>
        <p:spPr>
          <a:xfrm>
            <a:off x="7644240" y="2066400"/>
            <a:ext cx="438480" cy="438480"/>
          </a:xfrm>
          <a:prstGeom prst="rect">
            <a:avLst/>
          </a:prstGeom>
          <a:noFill/>
          <a:ln w="0">
            <a:noFill/>
          </a:ln>
        </p:spPr>
      </p:pic>
      <p:sp>
        <p:nvSpPr>
          <p:cNvPr id="74" name="Shape 15"/>
          <p:cNvSpPr/>
          <p:nvPr/>
        </p:nvSpPr>
        <p:spPr>
          <a:xfrm>
            <a:off x="8119800" y="1755720"/>
            <a:ext cx="310680" cy="310680"/>
          </a:xfrm>
          <a:prstGeom prst="ellipse">
            <a:avLst/>
          </a:prstGeom>
          <a:solidFill>
            <a:srgbClr val="F2B134"/>
          </a:solidFill>
          <a:ln w="190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Text 16"/>
          <p:cNvSpPr/>
          <p:nvPr/>
        </p:nvSpPr>
        <p:spPr>
          <a:xfrm>
            <a:off x="8119800" y="17373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7233F"/>
                </a:solidFill>
                <a:effectLst/>
                <a:uFillTx/>
                <a:latin typeface="Calibri"/>
                <a:ea typeface="Calibri"/>
              </a:rPr>
              <a:t>3</a:t>
            </a:r>
            <a:endParaRPr lang="en-US" sz="1300" b="0" u="none" strike="noStrike">
              <a:solidFill>
                <a:srgbClr val="000000"/>
              </a:solidFill>
              <a:effectLst/>
              <a:uFillTx/>
              <a:latin typeface="Arial"/>
            </a:endParaRPr>
          </a:p>
        </p:txBody>
      </p:sp>
      <p:sp>
        <p:nvSpPr>
          <p:cNvPr id="76" name="Text 17"/>
          <p:cNvSpPr/>
          <p:nvPr/>
        </p:nvSpPr>
        <p:spPr>
          <a:xfrm>
            <a:off x="6629400" y="288036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7233F"/>
                </a:solidFill>
                <a:effectLst/>
                <a:uFillTx/>
                <a:latin typeface="Calibri"/>
                <a:ea typeface="Calibri"/>
              </a:rPr>
              <a:t>Diarize &amp; Match</a:t>
            </a:r>
            <a:endParaRPr lang="en-US" sz="1600" b="0" u="none" strike="noStrike">
              <a:solidFill>
                <a:srgbClr val="000000"/>
              </a:solidFill>
              <a:effectLst/>
              <a:uFillTx/>
              <a:latin typeface="Arial"/>
            </a:endParaRPr>
          </a:p>
        </p:txBody>
      </p:sp>
      <p:sp>
        <p:nvSpPr>
          <p:cNvPr id="77" name="Text 18"/>
          <p:cNvSpPr/>
          <p:nvPr/>
        </p:nvSpPr>
        <p:spPr>
          <a:xfrm>
            <a:off x="6675120" y="3246120"/>
            <a:ext cx="2377080" cy="914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50" b="0" u="none" strike="noStrike">
                <a:solidFill>
                  <a:srgbClr val="6B7280"/>
                </a:solidFill>
                <a:effectLst/>
                <a:uFillTx/>
                <a:latin typeface="Calibri"/>
                <a:ea typeface="Calibri"/>
              </a:rPr>
              <a:t>NeMo finds who spoke when; Titanet matches voices to enrolled speakers.</a:t>
            </a:r>
            <a:endParaRPr lang="en-US" sz="1150" b="0" u="none" strike="noStrike">
              <a:solidFill>
                <a:srgbClr val="000000"/>
              </a:solidFill>
              <a:effectLst/>
              <a:uFillTx/>
              <a:latin typeface="Arial"/>
            </a:endParaRPr>
          </a:p>
        </p:txBody>
      </p:sp>
      <p:sp>
        <p:nvSpPr>
          <p:cNvPr id="78" name="Shape 19"/>
          <p:cNvSpPr/>
          <p:nvPr/>
        </p:nvSpPr>
        <p:spPr>
          <a:xfrm>
            <a:off x="9171360" y="2148840"/>
            <a:ext cx="356400" cy="273960"/>
          </a:xfrm>
          <a:prstGeom prst="rightArrow">
            <a:avLst>
              <a:gd name="adj1" fmla="val 50000"/>
              <a:gd name="adj2" fmla="val 50000"/>
            </a:avLst>
          </a:prstGeom>
          <a:solidFill>
            <a:srgbClr val="C9D3E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Shape 20"/>
          <p:cNvSpPr/>
          <p:nvPr/>
        </p:nvSpPr>
        <p:spPr>
          <a:xfrm>
            <a:off x="10378440" y="1828800"/>
            <a:ext cx="914040" cy="914040"/>
          </a:xfrm>
          <a:prstGeom prst="ellipse">
            <a:avLst/>
          </a:prstGeom>
          <a:solidFill>
            <a:srgbClr val="3FA7D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0" name="Image 3" descr="preencoded.png"/>
          <p:cNvPicPr/>
          <p:nvPr/>
        </p:nvPicPr>
        <p:blipFill>
          <a:blip r:embed="rId4"/>
          <a:stretch/>
        </p:blipFill>
        <p:spPr>
          <a:xfrm>
            <a:off x="10616040" y="2066400"/>
            <a:ext cx="438480" cy="438480"/>
          </a:xfrm>
          <a:prstGeom prst="rect">
            <a:avLst/>
          </a:prstGeom>
          <a:noFill/>
          <a:ln w="0">
            <a:noFill/>
          </a:ln>
        </p:spPr>
      </p:pic>
      <p:sp>
        <p:nvSpPr>
          <p:cNvPr id="81" name="Shape 21"/>
          <p:cNvSpPr/>
          <p:nvPr/>
        </p:nvSpPr>
        <p:spPr>
          <a:xfrm>
            <a:off x="11091600" y="1755720"/>
            <a:ext cx="310680" cy="310680"/>
          </a:xfrm>
          <a:prstGeom prst="ellipse">
            <a:avLst/>
          </a:prstGeom>
          <a:solidFill>
            <a:srgbClr val="F2B134"/>
          </a:solidFill>
          <a:ln w="190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Text 22"/>
          <p:cNvSpPr/>
          <p:nvPr/>
        </p:nvSpPr>
        <p:spPr>
          <a:xfrm>
            <a:off x="11091600" y="17373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7233F"/>
                </a:solidFill>
                <a:effectLst/>
                <a:uFillTx/>
                <a:latin typeface="Calibri"/>
                <a:ea typeface="Calibri"/>
              </a:rPr>
              <a:t>4</a:t>
            </a:r>
            <a:endParaRPr lang="en-US" sz="1300" b="0" u="none" strike="noStrike">
              <a:solidFill>
                <a:srgbClr val="000000"/>
              </a:solidFill>
              <a:effectLst/>
              <a:uFillTx/>
              <a:latin typeface="Arial"/>
            </a:endParaRPr>
          </a:p>
        </p:txBody>
      </p:sp>
      <p:sp>
        <p:nvSpPr>
          <p:cNvPr id="83" name="Text 23"/>
          <p:cNvSpPr/>
          <p:nvPr/>
        </p:nvSpPr>
        <p:spPr>
          <a:xfrm>
            <a:off x="9601200" y="288036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7233F"/>
                </a:solidFill>
                <a:effectLst/>
                <a:uFillTx/>
                <a:latin typeface="Calibri"/>
                <a:ea typeface="Calibri"/>
              </a:rPr>
              <a:t>Summarize</a:t>
            </a:r>
            <a:endParaRPr lang="en-US" sz="1600" b="0" u="none" strike="noStrike">
              <a:solidFill>
                <a:srgbClr val="000000"/>
              </a:solidFill>
              <a:effectLst/>
              <a:uFillTx/>
              <a:latin typeface="Arial"/>
            </a:endParaRPr>
          </a:p>
        </p:txBody>
      </p:sp>
      <p:sp>
        <p:nvSpPr>
          <p:cNvPr id="84" name="Text 24"/>
          <p:cNvSpPr/>
          <p:nvPr/>
        </p:nvSpPr>
        <p:spPr>
          <a:xfrm>
            <a:off x="9646920" y="3246120"/>
            <a:ext cx="2377080" cy="914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50" b="0" u="none" strike="noStrike">
                <a:solidFill>
                  <a:srgbClr val="6B7280"/>
                </a:solidFill>
                <a:effectLst/>
                <a:uFillTx/>
                <a:latin typeface="Calibri"/>
                <a:ea typeface="Calibri"/>
              </a:rPr>
              <a:t>A local LLM (Qwen2.5) produces a summary and key entities.</a:t>
            </a:r>
            <a:endParaRPr lang="en-US" sz="1150" b="0" u="none" strike="noStrike">
              <a:solidFill>
                <a:srgbClr val="000000"/>
              </a:solidFill>
              <a:effectLst/>
              <a:uFillTx/>
              <a:latin typeface="Arial"/>
            </a:endParaRPr>
          </a:p>
        </p:txBody>
      </p:sp>
      <p:sp>
        <p:nvSpPr>
          <p:cNvPr id="85" name="Shape 25"/>
          <p:cNvSpPr/>
          <p:nvPr/>
        </p:nvSpPr>
        <p:spPr>
          <a:xfrm>
            <a:off x="548640" y="5623560"/>
            <a:ext cx="11063880" cy="639720"/>
          </a:xfrm>
          <a:prstGeom prst="roundRect">
            <a:avLst>
              <a:gd name="adj" fmla="val 11429"/>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Text 26"/>
          <p:cNvSpPr/>
          <p:nvPr/>
        </p:nvSpPr>
        <p:spPr>
          <a:xfrm>
            <a:off x="548640" y="5623560"/>
            <a:ext cx="110638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i="1" u="none" strike="noStrike">
                <a:solidFill>
                  <a:srgbClr val="17233F"/>
                </a:solidFill>
                <a:effectLst/>
                <a:uFillTx/>
                <a:latin typeface="Calibri"/>
                <a:ea typeface="Calibri"/>
              </a:rPr>
              <a:t>Faster-Whisper  ·  NVIDIA NeMo  ·  Titanet  ·  Qwen2.5  —  orchestrated via FastAPI + Celery, running on a local GPU</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7233F"/>
        </a:solidFill>
      </p:bgPr>
    </p:bg>
    <p:spTree>
      <p:nvGrpSpPr>
        <p:cNvPr id="1" name=""/>
        <p:cNvGrpSpPr/>
        <p:nvPr/>
      </p:nvGrpSpPr>
      <p:grpSpPr>
        <a:xfrm>
          <a:off x="0" y="0"/>
          <a:ext cx="0" cy="0"/>
          <a:chOff x="0" y="0"/>
          <a:chExt cx="0" cy="0"/>
        </a:xfrm>
      </p:grpSpPr>
      <p:sp>
        <p:nvSpPr>
          <p:cNvPr id="87" name="Text 0"/>
          <p:cNvSpPr/>
          <p:nvPr/>
        </p:nvSpPr>
        <p:spPr>
          <a:xfrm>
            <a:off x="548640" y="457200"/>
            <a:ext cx="73148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FFFFFF"/>
                </a:solidFill>
                <a:effectLst/>
                <a:uFillTx/>
                <a:latin typeface="Cambria"/>
                <a:ea typeface="Cambria"/>
              </a:rPr>
              <a:t>Impact</a:t>
            </a:r>
            <a:endParaRPr lang="en-US" sz="3600" b="0" u="none" strike="noStrike">
              <a:solidFill>
                <a:srgbClr val="FFFFFF"/>
              </a:solidFill>
              <a:effectLst/>
              <a:uFillTx/>
              <a:latin typeface="Arial"/>
            </a:endParaRPr>
          </a:p>
        </p:txBody>
      </p:sp>
      <p:sp>
        <p:nvSpPr>
          <p:cNvPr id="88" name="Text 1"/>
          <p:cNvSpPr/>
          <p:nvPr/>
        </p:nvSpPr>
        <p:spPr>
          <a:xfrm>
            <a:off x="9692640" y="567000"/>
            <a:ext cx="1919880" cy="365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9AA7BE"/>
                </a:solidFill>
                <a:effectLst/>
                <a:uFillTx/>
                <a:latin typeface="Calibri"/>
                <a:ea typeface="Calibri"/>
              </a:rPr>
              <a:t>02:00 – 02:30</a:t>
            </a:r>
            <a:endParaRPr lang="en-US" sz="1200" b="0" u="none" strike="noStrike">
              <a:solidFill>
                <a:srgbClr val="FFFFFF"/>
              </a:solidFill>
              <a:effectLst/>
              <a:uFillTx/>
              <a:latin typeface="Arial"/>
            </a:endParaRPr>
          </a:p>
        </p:txBody>
      </p:sp>
      <p:sp>
        <p:nvSpPr>
          <p:cNvPr id="89" name="Text 2"/>
          <p:cNvSpPr/>
          <p:nvPr/>
        </p:nvSpPr>
        <p:spPr>
          <a:xfrm>
            <a:off x="777240" y="2103120"/>
            <a:ext cx="3565800" cy="1188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2B134"/>
                </a:solidFill>
                <a:effectLst/>
                <a:uFillTx/>
                <a:latin typeface="Cambria"/>
                <a:ea typeface="Cambria"/>
              </a:rPr>
              <a:t>0</a:t>
            </a:r>
            <a:endParaRPr lang="en-US" sz="7200" b="0" u="none" strike="noStrike">
              <a:solidFill>
                <a:srgbClr val="FFFFFF"/>
              </a:solidFill>
              <a:effectLst/>
              <a:uFillTx/>
              <a:latin typeface="Arial"/>
            </a:endParaRPr>
          </a:p>
        </p:txBody>
      </p:sp>
      <p:sp>
        <p:nvSpPr>
          <p:cNvPr id="90" name="Text 3"/>
          <p:cNvSpPr/>
          <p:nvPr/>
        </p:nvSpPr>
        <p:spPr>
          <a:xfrm>
            <a:off x="777240" y="3337560"/>
            <a:ext cx="356580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cloud calls at inference</a:t>
            </a:r>
            <a:endParaRPr lang="en-US" sz="1500" b="0" u="none" strike="noStrike">
              <a:solidFill>
                <a:srgbClr val="FFFFFF"/>
              </a:solidFill>
              <a:effectLst/>
              <a:uFillTx/>
              <a:latin typeface="Arial"/>
            </a:endParaRPr>
          </a:p>
        </p:txBody>
      </p:sp>
      <p:sp>
        <p:nvSpPr>
          <p:cNvPr id="91" name="Text 4"/>
          <p:cNvSpPr/>
          <p:nvPr/>
        </p:nvSpPr>
        <p:spPr>
          <a:xfrm>
            <a:off x="777240" y="3749040"/>
            <a:ext cx="35658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9AA7BE"/>
                </a:solidFill>
                <a:effectLst/>
                <a:uFillTx/>
                <a:latin typeface="Calibri"/>
                <a:ea typeface="Calibri"/>
              </a:rPr>
              <a:t>audio never leaves your machine</a:t>
            </a:r>
            <a:endParaRPr lang="en-US" sz="1200" b="0" u="none" strike="noStrike">
              <a:solidFill>
                <a:srgbClr val="FFFFFF"/>
              </a:solidFill>
              <a:effectLst/>
              <a:uFillTx/>
              <a:latin typeface="Arial"/>
            </a:endParaRPr>
          </a:p>
        </p:txBody>
      </p:sp>
      <p:sp>
        <p:nvSpPr>
          <p:cNvPr id="92" name="Text 5"/>
          <p:cNvSpPr/>
          <p:nvPr/>
        </p:nvSpPr>
        <p:spPr>
          <a:xfrm>
            <a:off x="4480560" y="2103120"/>
            <a:ext cx="3565800" cy="1188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2B134"/>
                </a:solidFill>
                <a:effectLst/>
                <a:uFillTx/>
                <a:latin typeface="Cambria"/>
                <a:ea typeface="Cambria"/>
              </a:rPr>
              <a:t>4</a:t>
            </a:r>
            <a:endParaRPr lang="en-US" sz="7200" b="0" u="none" strike="noStrike">
              <a:solidFill>
                <a:srgbClr val="FFFFFF"/>
              </a:solidFill>
              <a:effectLst/>
              <a:uFillTx/>
              <a:latin typeface="Arial"/>
            </a:endParaRPr>
          </a:p>
        </p:txBody>
      </p:sp>
      <p:sp>
        <p:nvSpPr>
          <p:cNvPr id="93" name="Text 6"/>
          <p:cNvSpPr/>
          <p:nvPr/>
        </p:nvSpPr>
        <p:spPr>
          <a:xfrm>
            <a:off x="4480560" y="3337560"/>
            <a:ext cx="356580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outputs per recording</a:t>
            </a:r>
            <a:endParaRPr lang="en-US" sz="1500" b="0" u="none" strike="noStrike">
              <a:solidFill>
                <a:srgbClr val="FFFFFF"/>
              </a:solidFill>
              <a:effectLst/>
              <a:uFillTx/>
              <a:latin typeface="Arial"/>
            </a:endParaRPr>
          </a:p>
        </p:txBody>
      </p:sp>
      <p:sp>
        <p:nvSpPr>
          <p:cNvPr id="94" name="Text 7"/>
          <p:cNvSpPr/>
          <p:nvPr/>
        </p:nvSpPr>
        <p:spPr>
          <a:xfrm>
            <a:off x="4480560" y="3749040"/>
            <a:ext cx="35658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9AA7BE"/>
                </a:solidFill>
                <a:effectLst/>
                <a:uFillTx/>
                <a:latin typeface="Calibri"/>
                <a:ea typeface="Calibri"/>
              </a:rPr>
              <a:t>transcript, speakers, IDs, summary</a:t>
            </a:r>
            <a:endParaRPr lang="en-US" sz="1200" b="0" u="none" strike="noStrike">
              <a:solidFill>
                <a:srgbClr val="FFFFFF"/>
              </a:solidFill>
              <a:effectLst/>
              <a:uFillTx/>
              <a:latin typeface="Arial"/>
            </a:endParaRPr>
          </a:p>
        </p:txBody>
      </p:sp>
      <p:sp>
        <p:nvSpPr>
          <p:cNvPr id="95" name="Text 8"/>
          <p:cNvSpPr/>
          <p:nvPr/>
        </p:nvSpPr>
        <p:spPr>
          <a:xfrm>
            <a:off x="8183880" y="2103120"/>
            <a:ext cx="3565800" cy="1188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2B134"/>
                </a:solidFill>
                <a:effectLst/>
                <a:uFillTx/>
                <a:latin typeface="Cambria"/>
                <a:ea typeface="Cambria"/>
              </a:rPr>
              <a:t>2</a:t>
            </a:r>
            <a:endParaRPr lang="en-US" sz="7200" b="0" u="none" strike="noStrike">
              <a:solidFill>
                <a:srgbClr val="FFFFFF"/>
              </a:solidFill>
              <a:effectLst/>
              <a:uFillTx/>
              <a:latin typeface="Arial"/>
            </a:endParaRPr>
          </a:p>
        </p:txBody>
      </p:sp>
      <p:sp>
        <p:nvSpPr>
          <p:cNvPr id="96" name="Text 9"/>
          <p:cNvSpPr/>
          <p:nvPr/>
        </p:nvSpPr>
        <p:spPr>
          <a:xfrm>
            <a:off x="8183880" y="3337560"/>
            <a:ext cx="356580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machines validated</a:t>
            </a:r>
            <a:endParaRPr lang="en-US" sz="1500" b="0" u="none" strike="noStrike">
              <a:solidFill>
                <a:srgbClr val="FFFFFF"/>
              </a:solidFill>
              <a:effectLst/>
              <a:uFillTx/>
              <a:latin typeface="Arial"/>
            </a:endParaRPr>
          </a:p>
        </p:txBody>
      </p:sp>
      <p:sp>
        <p:nvSpPr>
          <p:cNvPr id="97" name="Text 10"/>
          <p:cNvSpPr/>
          <p:nvPr/>
        </p:nvSpPr>
        <p:spPr>
          <a:xfrm>
            <a:off x="8183880" y="3749040"/>
            <a:ext cx="35658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9AA7BE"/>
                </a:solidFill>
                <a:effectLst/>
                <a:uFillTx/>
                <a:latin typeface="Calibri"/>
                <a:ea typeface="Calibri"/>
              </a:rPr>
              <a:t>tested end-to-end on real hardware</a:t>
            </a:r>
            <a:endParaRPr lang="en-US" sz="1200" b="0" u="none" strike="noStrike">
              <a:solidFill>
                <a:srgbClr val="FFFFFF"/>
              </a:solidFill>
              <a:effectLst/>
              <a:uFillTx/>
              <a:latin typeface="Arial"/>
            </a:endParaRPr>
          </a:p>
        </p:txBody>
      </p:sp>
      <p:sp>
        <p:nvSpPr>
          <p:cNvPr id="98" name="Shape 11"/>
          <p:cNvSpPr/>
          <p:nvPr/>
        </p:nvSpPr>
        <p:spPr>
          <a:xfrm>
            <a:off x="1828800" y="4709160"/>
            <a:ext cx="8503920" cy="360"/>
          </a:xfrm>
          <a:prstGeom prst="line">
            <a:avLst/>
          </a:prstGeom>
          <a:ln w="12700">
            <a:solidFill>
              <a:srgbClr val="324066"/>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99" name="Text 12"/>
          <p:cNvSpPr/>
          <p:nvPr/>
        </p:nvSpPr>
        <p:spPr>
          <a:xfrm>
            <a:off x="914400" y="4937760"/>
            <a:ext cx="1033236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i="1" u="none" strike="noStrike">
                <a:solidFill>
                  <a:srgbClr val="3FA7D6"/>
                </a:solidFill>
                <a:effectLst/>
                <a:uFillTx/>
                <a:latin typeface="Calibri"/>
                <a:ea typeface="Calibri"/>
              </a:rPr>
              <a:t>A genuine alternative for sensitive Arabic audio — where privacy isn't a trade-off.</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Text 25"/>
          <p:cNvSpPr/>
          <p:nvPr/>
        </p:nvSpPr>
        <p:spPr>
          <a:xfrm>
            <a:off x="548640" y="457200"/>
            <a:ext cx="91432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17233F"/>
                </a:solidFill>
                <a:effectLst/>
                <a:uFillTx/>
                <a:latin typeface="Cambria"/>
                <a:ea typeface="Cambria"/>
              </a:rPr>
              <a:t>Demo &amp; Roadmap</a:t>
            </a:r>
            <a:endParaRPr lang="en-US" sz="3600" b="0" u="none" strike="noStrike">
              <a:solidFill>
                <a:srgbClr val="000000"/>
              </a:solidFill>
              <a:effectLst/>
              <a:uFillTx/>
              <a:latin typeface="Arial"/>
            </a:endParaRPr>
          </a:p>
        </p:txBody>
      </p:sp>
      <p:sp>
        <p:nvSpPr>
          <p:cNvPr id="101" name="Text 29"/>
          <p:cNvSpPr/>
          <p:nvPr/>
        </p:nvSpPr>
        <p:spPr>
          <a:xfrm>
            <a:off x="9692640" y="567000"/>
            <a:ext cx="191952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6B7280"/>
                </a:solidFill>
                <a:effectLst/>
                <a:uFillTx/>
                <a:latin typeface="Calibri"/>
                <a:ea typeface="Calibri"/>
              </a:rPr>
              <a:t>02:30 – 03:00</a:t>
            </a:r>
            <a:endParaRPr lang="en-US" sz="1200" b="0" u="none" strike="noStrike">
              <a:solidFill>
                <a:srgbClr val="000000"/>
              </a:solidFill>
              <a:effectLst/>
              <a:uFillTx/>
              <a:latin typeface="Arial"/>
            </a:endParaRPr>
          </a:p>
        </p:txBody>
      </p:sp>
      <p:sp>
        <p:nvSpPr>
          <p:cNvPr id="102" name="Shape 6"/>
          <p:cNvSpPr/>
          <p:nvPr/>
        </p:nvSpPr>
        <p:spPr>
          <a:xfrm>
            <a:off x="548640" y="1463040"/>
            <a:ext cx="5119920" cy="4479840"/>
          </a:xfrm>
          <a:prstGeom prst="roundRect">
            <a:avLst>
              <a:gd name="adj" fmla="val 2041"/>
            </a:avLst>
          </a:prstGeom>
          <a:solidFill>
            <a:srgbClr val="F4F7FB"/>
          </a:solidFill>
          <a:ln w="12700">
            <a:solidFill>
              <a:srgbClr val="E3E9F2"/>
            </a:solidFill>
            <a:round/>
          </a:ln>
          <a:effectLst>
            <a:outerShdw algn="bl" blurRad="76320" dir="5400000" dist="25560" kx="0" ky="0" rotWithShape="0" sx="100000" sy="100000">
              <a:srgbClr val="0F1A3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03" name="Image 8" descr="preencoded.png"/>
          <p:cNvPicPr/>
          <p:nvPr/>
        </p:nvPicPr>
        <p:blipFill>
          <a:blip r:embed="rId1"/>
          <a:stretch/>
        </p:blipFill>
        <p:spPr>
          <a:xfrm>
            <a:off x="896040" y="2971080"/>
            <a:ext cx="502200" cy="502200"/>
          </a:xfrm>
          <a:prstGeom prst="rect">
            <a:avLst/>
          </a:prstGeom>
          <a:noFill/>
          <a:ln w="0">
            <a:noFill/>
          </a:ln>
        </p:spPr>
      </p:pic>
      <p:sp>
        <p:nvSpPr>
          <p:cNvPr id="104" name="Text 30"/>
          <p:cNvSpPr/>
          <p:nvPr/>
        </p:nvSpPr>
        <p:spPr>
          <a:xfrm>
            <a:off x="1554480" y="2971080"/>
            <a:ext cx="393120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7233F"/>
                </a:solidFill>
                <a:effectLst/>
                <a:uFillTx/>
                <a:latin typeface="Calibri"/>
                <a:ea typeface="Calibri"/>
              </a:rPr>
              <a:t>Live Demo</a:t>
            </a:r>
            <a:endParaRPr lang="en-US" sz="2000" b="0" u="none" strike="noStrike">
              <a:solidFill>
                <a:srgbClr val="000000"/>
              </a:solidFill>
              <a:effectLst/>
              <a:uFillTx/>
              <a:latin typeface="Arial"/>
            </a:endParaRPr>
          </a:p>
        </p:txBody>
      </p:sp>
      <p:sp>
        <p:nvSpPr>
          <p:cNvPr id="105" name="Shape 10"/>
          <p:cNvSpPr/>
          <p:nvPr/>
        </p:nvSpPr>
        <p:spPr>
          <a:xfrm>
            <a:off x="6172200" y="1463040"/>
            <a:ext cx="502200" cy="502200"/>
          </a:xfrm>
          <a:prstGeom prst="ellipse">
            <a:avLst/>
          </a:prstGeom>
          <a:solidFill>
            <a:srgbClr val="3FA7D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 name="Text 33"/>
          <p:cNvSpPr/>
          <p:nvPr/>
        </p:nvSpPr>
        <p:spPr>
          <a:xfrm>
            <a:off x="6172200" y="1463040"/>
            <a:ext cx="50220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1</a:t>
            </a:r>
            <a:endParaRPr lang="en-US" sz="1600" b="0" u="none" strike="noStrike">
              <a:solidFill>
                <a:srgbClr val="000000"/>
              </a:solidFill>
              <a:effectLst/>
              <a:uFillTx/>
              <a:latin typeface="Arial"/>
            </a:endParaRPr>
          </a:p>
        </p:txBody>
      </p:sp>
      <p:sp>
        <p:nvSpPr>
          <p:cNvPr id="107" name="Text 34"/>
          <p:cNvSpPr/>
          <p:nvPr/>
        </p:nvSpPr>
        <p:spPr>
          <a:xfrm>
            <a:off x="6903720" y="1463040"/>
            <a:ext cx="4708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7233F"/>
                </a:solidFill>
                <a:effectLst/>
                <a:uFillTx/>
                <a:latin typeface="Calibri"/>
                <a:ea typeface="Calibri"/>
              </a:rPr>
              <a:t>Translation support</a:t>
            </a:r>
            <a:endParaRPr lang="en-US" sz="1500" b="0" u="none" strike="noStrike">
              <a:solidFill>
                <a:srgbClr val="000000"/>
              </a:solidFill>
              <a:effectLst/>
              <a:uFillTx/>
              <a:latin typeface="Arial"/>
            </a:endParaRPr>
          </a:p>
        </p:txBody>
      </p:sp>
      <p:sp>
        <p:nvSpPr>
          <p:cNvPr id="108" name="Shape 18"/>
          <p:cNvSpPr/>
          <p:nvPr/>
        </p:nvSpPr>
        <p:spPr>
          <a:xfrm>
            <a:off x="6418800" y="1965960"/>
            <a:ext cx="360" cy="548640"/>
          </a:xfrm>
          <a:prstGeom prst="line">
            <a:avLst/>
          </a:prstGeom>
          <a:ln w="19050">
            <a:solidFill>
              <a:srgbClr val="E3E9F2"/>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09" name="Shape 22"/>
          <p:cNvSpPr/>
          <p:nvPr/>
        </p:nvSpPr>
        <p:spPr>
          <a:xfrm>
            <a:off x="6172200" y="2514600"/>
            <a:ext cx="502200" cy="502200"/>
          </a:xfrm>
          <a:prstGeom prst="ellipse">
            <a:avLst/>
          </a:prstGeom>
          <a:solidFill>
            <a:srgbClr val="3FA7D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 name="Text 37"/>
          <p:cNvSpPr/>
          <p:nvPr/>
        </p:nvSpPr>
        <p:spPr>
          <a:xfrm>
            <a:off x="6172200" y="2514600"/>
            <a:ext cx="50220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2</a:t>
            </a:r>
            <a:endParaRPr lang="en-US" sz="1600" b="0" u="none" strike="noStrike">
              <a:solidFill>
                <a:srgbClr val="000000"/>
              </a:solidFill>
              <a:effectLst/>
              <a:uFillTx/>
              <a:latin typeface="Arial"/>
            </a:endParaRPr>
          </a:p>
        </p:txBody>
      </p:sp>
      <p:sp>
        <p:nvSpPr>
          <p:cNvPr id="111" name="Text 39"/>
          <p:cNvSpPr/>
          <p:nvPr/>
        </p:nvSpPr>
        <p:spPr>
          <a:xfrm>
            <a:off x="6903720" y="2514600"/>
            <a:ext cx="4708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7233F"/>
                </a:solidFill>
                <a:effectLst/>
                <a:uFillTx/>
                <a:latin typeface="Calibri"/>
                <a:ea typeface="Calibri"/>
              </a:rPr>
              <a:t>Formal accuracy evaluation (WER, speaker attribution)</a:t>
            </a:r>
            <a:endParaRPr lang="en-US" sz="1500" b="0" u="none" strike="noStrike">
              <a:solidFill>
                <a:srgbClr val="000000"/>
              </a:solidFill>
              <a:effectLst/>
              <a:uFillTx/>
              <a:latin typeface="Arial"/>
            </a:endParaRPr>
          </a:p>
        </p:txBody>
      </p:sp>
      <p:sp>
        <p:nvSpPr>
          <p:cNvPr id="112" name="Shape 23"/>
          <p:cNvSpPr/>
          <p:nvPr/>
        </p:nvSpPr>
        <p:spPr>
          <a:xfrm>
            <a:off x="6418800" y="3017520"/>
            <a:ext cx="360" cy="548640"/>
          </a:xfrm>
          <a:prstGeom prst="line">
            <a:avLst/>
          </a:prstGeom>
          <a:ln w="19050">
            <a:solidFill>
              <a:srgbClr val="E3E9F2"/>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3" name="Shape 26"/>
          <p:cNvSpPr/>
          <p:nvPr/>
        </p:nvSpPr>
        <p:spPr>
          <a:xfrm>
            <a:off x="6172200" y="3566160"/>
            <a:ext cx="502200" cy="502200"/>
          </a:xfrm>
          <a:prstGeom prst="ellipse">
            <a:avLst/>
          </a:prstGeom>
          <a:solidFill>
            <a:srgbClr val="3FA7D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Text 40"/>
          <p:cNvSpPr/>
          <p:nvPr/>
        </p:nvSpPr>
        <p:spPr>
          <a:xfrm>
            <a:off x="6172200" y="3566160"/>
            <a:ext cx="50220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3</a:t>
            </a:r>
            <a:endParaRPr lang="en-US" sz="1600" b="0" u="none" strike="noStrike">
              <a:solidFill>
                <a:srgbClr val="000000"/>
              </a:solidFill>
              <a:effectLst/>
              <a:uFillTx/>
              <a:latin typeface="Arial"/>
            </a:endParaRPr>
          </a:p>
        </p:txBody>
      </p:sp>
      <p:sp>
        <p:nvSpPr>
          <p:cNvPr id="115" name="Text 41"/>
          <p:cNvSpPr/>
          <p:nvPr/>
        </p:nvSpPr>
        <p:spPr>
          <a:xfrm>
            <a:off x="6903720" y="3566160"/>
            <a:ext cx="4708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7233F"/>
                </a:solidFill>
                <a:effectLst/>
                <a:uFillTx/>
                <a:latin typeface="Calibri"/>
                <a:ea typeface="Calibri"/>
              </a:rPr>
              <a:t>Tune speaker-matching thresholds against real eval data</a:t>
            </a:r>
            <a:endParaRPr lang="en-US" sz="1500" b="0" u="none" strike="noStrike">
              <a:solidFill>
                <a:srgbClr val="000000"/>
              </a:solidFill>
              <a:effectLst/>
              <a:uFillTx/>
              <a:latin typeface="Arial"/>
            </a:endParaRPr>
          </a:p>
        </p:txBody>
      </p:sp>
      <p:sp>
        <p:nvSpPr>
          <p:cNvPr id="116" name="Shape 27"/>
          <p:cNvSpPr/>
          <p:nvPr/>
        </p:nvSpPr>
        <p:spPr>
          <a:xfrm>
            <a:off x="6418800" y="4069080"/>
            <a:ext cx="360" cy="548640"/>
          </a:xfrm>
          <a:prstGeom prst="line">
            <a:avLst/>
          </a:prstGeom>
          <a:ln w="19050">
            <a:solidFill>
              <a:srgbClr val="E3E9F2"/>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7" name="Shape 28"/>
          <p:cNvSpPr/>
          <p:nvPr/>
        </p:nvSpPr>
        <p:spPr>
          <a:xfrm>
            <a:off x="6172200" y="4617720"/>
            <a:ext cx="502200" cy="502200"/>
          </a:xfrm>
          <a:prstGeom prst="ellipse">
            <a:avLst/>
          </a:prstGeom>
          <a:solidFill>
            <a:srgbClr val="3FA7D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8" name="Text 42"/>
          <p:cNvSpPr/>
          <p:nvPr/>
        </p:nvSpPr>
        <p:spPr>
          <a:xfrm>
            <a:off x="6172200" y="4617720"/>
            <a:ext cx="50220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4</a:t>
            </a:r>
            <a:endParaRPr lang="en-US" sz="1600" b="0" u="none" strike="noStrike">
              <a:solidFill>
                <a:srgbClr val="000000"/>
              </a:solidFill>
              <a:effectLst/>
              <a:uFillTx/>
              <a:latin typeface="Arial"/>
            </a:endParaRPr>
          </a:p>
        </p:txBody>
      </p:sp>
      <p:sp>
        <p:nvSpPr>
          <p:cNvPr id="119" name="Text 43"/>
          <p:cNvSpPr/>
          <p:nvPr/>
        </p:nvSpPr>
        <p:spPr>
          <a:xfrm>
            <a:off x="6903720" y="4617720"/>
            <a:ext cx="4708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7233F"/>
                </a:solidFill>
                <a:effectLst/>
                <a:uFillTx/>
                <a:latin typeface="Calibri"/>
                <a:ea typeface="Calibri"/>
              </a:rPr>
              <a:t>Cross-recording speaker identity consistency</a:t>
            </a:r>
            <a:endParaRPr lang="en-US" sz="1500" b="0" u="none" strike="noStrike">
              <a:solidFill>
                <a:srgbClr val="000000"/>
              </a:solidFill>
              <a:effectLst/>
              <a:uFillTx/>
              <a:latin typeface="Arial"/>
            </a:endParaRPr>
          </a:p>
        </p:txBody>
      </p:sp>
      <p:sp>
        <p:nvSpPr>
          <p:cNvPr id="120" name="Shape 31"/>
          <p:cNvSpPr/>
          <p:nvPr/>
        </p:nvSpPr>
        <p:spPr>
          <a:xfrm>
            <a:off x="548640" y="6172200"/>
            <a:ext cx="11063520" cy="502200"/>
          </a:xfrm>
          <a:prstGeom prst="roundRect">
            <a:avLst>
              <a:gd name="adj" fmla="val 10909"/>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1" name="Text 44"/>
          <p:cNvSpPr/>
          <p:nvPr/>
        </p:nvSpPr>
        <p:spPr>
          <a:xfrm>
            <a:off x="548640" y="6172200"/>
            <a:ext cx="1106352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F2B134"/>
                </a:solidFill>
                <a:effectLst/>
                <a:uFillTx/>
                <a:latin typeface="Calibri"/>
                <a:ea typeface="Calibri"/>
              </a:rPr>
              <a:t>Every metric backed by evidence — not assumption.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Text 0"/>
          <p:cNvSpPr/>
          <p:nvPr/>
        </p:nvSpPr>
        <p:spPr>
          <a:xfrm>
            <a:off x="548640" y="457200"/>
            <a:ext cx="91436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17233F"/>
                </a:solidFill>
                <a:effectLst/>
                <a:uFillTx/>
                <a:latin typeface="Cambria"/>
                <a:ea typeface="Cambria"/>
              </a:rPr>
              <a:t>Under the Hood</a:t>
            </a:r>
            <a:endParaRPr lang="en-US" sz="3600" b="0" u="none" strike="noStrike">
              <a:solidFill>
                <a:srgbClr val="000000"/>
              </a:solidFill>
              <a:effectLst/>
              <a:uFillTx/>
              <a:latin typeface="Arial"/>
            </a:endParaRPr>
          </a:p>
        </p:txBody>
      </p:sp>
      <p:sp>
        <p:nvSpPr>
          <p:cNvPr id="123" name="Text 1"/>
          <p:cNvSpPr/>
          <p:nvPr/>
        </p:nvSpPr>
        <p:spPr>
          <a:xfrm>
            <a:off x="8778240" y="585360"/>
            <a:ext cx="2834280" cy="365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i="1" u="none" strike="noStrike">
                <a:solidFill>
                  <a:srgbClr val="6B7280"/>
                </a:solidFill>
                <a:effectLst/>
                <a:uFillTx/>
                <a:latin typeface="Calibri"/>
                <a:ea typeface="Calibri"/>
              </a:rPr>
              <a:t>Backup slide  ·  full stack</a:t>
            </a:r>
            <a:endParaRPr lang="en-US" sz="1200" b="0" u="none" strike="noStrike">
              <a:solidFill>
                <a:srgbClr val="000000"/>
              </a:solidFill>
              <a:effectLst/>
              <a:uFillTx/>
              <a:latin typeface="Arial"/>
            </a:endParaRPr>
          </a:p>
        </p:txBody>
      </p:sp>
      <p:sp>
        <p:nvSpPr>
          <p:cNvPr id="124" name="Text 2"/>
          <p:cNvSpPr/>
          <p:nvPr/>
        </p:nvSpPr>
        <p:spPr>
          <a:xfrm>
            <a:off x="548640" y="1417320"/>
            <a:ext cx="35200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F2B134"/>
                </a:solidFill>
                <a:effectLst/>
                <a:uFillTx/>
                <a:latin typeface="Calibri"/>
                <a:ea typeface="Calibri"/>
              </a:rPr>
              <a:t>INTERFACE &amp; API</a:t>
            </a:r>
            <a:endParaRPr lang="en-US" sz="1200" b="0" u="none" strike="noStrike">
              <a:solidFill>
                <a:srgbClr val="000000"/>
              </a:solidFill>
              <a:effectLst/>
              <a:uFillTx/>
              <a:latin typeface="Arial"/>
            </a:endParaRPr>
          </a:p>
        </p:txBody>
      </p:sp>
      <p:sp>
        <p:nvSpPr>
          <p:cNvPr id="125" name="Shape 3"/>
          <p:cNvSpPr/>
          <p:nvPr/>
        </p:nvSpPr>
        <p:spPr>
          <a:xfrm>
            <a:off x="548640" y="187452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Shape 4"/>
          <p:cNvSpPr/>
          <p:nvPr/>
        </p:nvSpPr>
        <p:spPr>
          <a:xfrm>
            <a:off x="713160" y="207108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7" name="Image 0" descr="preencoded.png"/>
          <p:cNvPicPr/>
          <p:nvPr/>
        </p:nvPicPr>
        <p:blipFill>
          <a:blip r:embed="rId1"/>
          <a:stretch/>
        </p:blipFill>
        <p:spPr>
          <a:xfrm>
            <a:off x="841320" y="2199240"/>
            <a:ext cx="237240" cy="237240"/>
          </a:xfrm>
          <a:prstGeom prst="rect">
            <a:avLst/>
          </a:prstGeom>
          <a:noFill/>
          <a:ln w="0">
            <a:noFill/>
          </a:ln>
        </p:spPr>
      </p:pic>
      <p:sp>
        <p:nvSpPr>
          <p:cNvPr id="128" name="Text 5"/>
          <p:cNvSpPr/>
          <p:nvPr/>
        </p:nvSpPr>
        <p:spPr>
          <a:xfrm>
            <a:off x="1334880" y="195696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Angular</a:t>
            </a:r>
            <a:endParaRPr lang="en-US" sz="1350" b="0" u="none" strike="noStrike">
              <a:solidFill>
                <a:srgbClr val="000000"/>
              </a:solidFill>
              <a:effectLst/>
              <a:uFillTx/>
              <a:latin typeface="Arial"/>
            </a:endParaRPr>
          </a:p>
        </p:txBody>
      </p:sp>
      <p:sp>
        <p:nvSpPr>
          <p:cNvPr id="129" name="Text 6"/>
          <p:cNvSpPr/>
          <p:nvPr/>
        </p:nvSpPr>
        <p:spPr>
          <a:xfrm>
            <a:off x="1334880" y="224028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Web UI — upload, record, view results</a:t>
            </a:r>
            <a:endParaRPr lang="en-US" sz="1050" b="0" u="none" strike="noStrike">
              <a:solidFill>
                <a:srgbClr val="000000"/>
              </a:solidFill>
              <a:effectLst/>
              <a:uFillTx/>
              <a:latin typeface="Arial"/>
            </a:endParaRPr>
          </a:p>
        </p:txBody>
      </p:sp>
      <p:sp>
        <p:nvSpPr>
          <p:cNvPr id="130" name="Shape 7"/>
          <p:cNvSpPr/>
          <p:nvPr/>
        </p:nvSpPr>
        <p:spPr>
          <a:xfrm>
            <a:off x="548640" y="292608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1" name="Shape 8"/>
          <p:cNvSpPr/>
          <p:nvPr/>
        </p:nvSpPr>
        <p:spPr>
          <a:xfrm>
            <a:off x="713160" y="312264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2" name="Image 1" descr="preencoded.png"/>
          <p:cNvPicPr/>
          <p:nvPr/>
        </p:nvPicPr>
        <p:blipFill>
          <a:blip r:embed="rId2"/>
          <a:stretch/>
        </p:blipFill>
        <p:spPr>
          <a:xfrm>
            <a:off x="841320" y="3250800"/>
            <a:ext cx="237240" cy="237240"/>
          </a:xfrm>
          <a:prstGeom prst="rect">
            <a:avLst/>
          </a:prstGeom>
          <a:noFill/>
          <a:ln w="0">
            <a:noFill/>
          </a:ln>
        </p:spPr>
      </p:pic>
      <p:sp>
        <p:nvSpPr>
          <p:cNvPr id="133" name="Text 9"/>
          <p:cNvSpPr/>
          <p:nvPr/>
        </p:nvSpPr>
        <p:spPr>
          <a:xfrm>
            <a:off x="1334880" y="300852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FastAPI</a:t>
            </a:r>
            <a:endParaRPr lang="en-US" sz="1350" b="0" u="none" strike="noStrike">
              <a:solidFill>
                <a:srgbClr val="000000"/>
              </a:solidFill>
              <a:effectLst/>
              <a:uFillTx/>
              <a:latin typeface="Arial"/>
            </a:endParaRPr>
          </a:p>
        </p:txBody>
      </p:sp>
      <p:sp>
        <p:nvSpPr>
          <p:cNvPr id="134" name="Text 10"/>
          <p:cNvSpPr/>
          <p:nvPr/>
        </p:nvSpPr>
        <p:spPr>
          <a:xfrm>
            <a:off x="1334880" y="329184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REST API — accepts jobs, serves results</a:t>
            </a:r>
            <a:endParaRPr lang="en-US" sz="1050" b="0" u="none" strike="noStrike">
              <a:solidFill>
                <a:srgbClr val="000000"/>
              </a:solidFill>
              <a:effectLst/>
              <a:uFillTx/>
              <a:latin typeface="Arial"/>
            </a:endParaRPr>
          </a:p>
        </p:txBody>
      </p:sp>
      <p:sp>
        <p:nvSpPr>
          <p:cNvPr id="135" name="Text 11"/>
          <p:cNvSpPr/>
          <p:nvPr/>
        </p:nvSpPr>
        <p:spPr>
          <a:xfrm>
            <a:off x="4297680" y="1417320"/>
            <a:ext cx="35200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F2B134"/>
                </a:solidFill>
                <a:effectLst/>
                <a:uFillTx/>
                <a:latin typeface="Calibri"/>
                <a:ea typeface="Calibri"/>
              </a:rPr>
              <a:t>JOBS &amp; STORAGE</a:t>
            </a:r>
            <a:endParaRPr lang="en-US" sz="1200" b="0" u="none" strike="noStrike">
              <a:solidFill>
                <a:srgbClr val="000000"/>
              </a:solidFill>
              <a:effectLst/>
              <a:uFillTx/>
              <a:latin typeface="Arial"/>
            </a:endParaRPr>
          </a:p>
        </p:txBody>
      </p:sp>
      <p:sp>
        <p:nvSpPr>
          <p:cNvPr id="136" name="Shape 12"/>
          <p:cNvSpPr/>
          <p:nvPr/>
        </p:nvSpPr>
        <p:spPr>
          <a:xfrm>
            <a:off x="4297680" y="187452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Shape 13"/>
          <p:cNvSpPr/>
          <p:nvPr/>
        </p:nvSpPr>
        <p:spPr>
          <a:xfrm>
            <a:off x="4462200" y="207108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8" name="Image 2" descr="preencoded.png"/>
          <p:cNvPicPr/>
          <p:nvPr/>
        </p:nvPicPr>
        <p:blipFill>
          <a:blip r:embed="rId3"/>
          <a:stretch/>
        </p:blipFill>
        <p:spPr>
          <a:xfrm>
            <a:off x="4590360" y="2199240"/>
            <a:ext cx="237240" cy="237240"/>
          </a:xfrm>
          <a:prstGeom prst="rect">
            <a:avLst/>
          </a:prstGeom>
          <a:noFill/>
          <a:ln w="0">
            <a:noFill/>
          </a:ln>
        </p:spPr>
      </p:pic>
      <p:sp>
        <p:nvSpPr>
          <p:cNvPr id="139" name="Text 14"/>
          <p:cNvSpPr/>
          <p:nvPr/>
        </p:nvSpPr>
        <p:spPr>
          <a:xfrm>
            <a:off x="5083920" y="195696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Celery</a:t>
            </a:r>
            <a:endParaRPr lang="en-US" sz="1350" b="0" u="none" strike="noStrike">
              <a:solidFill>
                <a:srgbClr val="000000"/>
              </a:solidFill>
              <a:effectLst/>
              <a:uFillTx/>
              <a:latin typeface="Arial"/>
            </a:endParaRPr>
          </a:p>
        </p:txBody>
      </p:sp>
      <p:sp>
        <p:nvSpPr>
          <p:cNvPr id="140" name="Text 15"/>
          <p:cNvSpPr/>
          <p:nvPr/>
        </p:nvSpPr>
        <p:spPr>
          <a:xfrm>
            <a:off x="5083920" y="224028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Background job queue for the GPU pipeline</a:t>
            </a:r>
            <a:endParaRPr lang="en-US" sz="1050" b="0" u="none" strike="noStrike">
              <a:solidFill>
                <a:srgbClr val="000000"/>
              </a:solidFill>
              <a:effectLst/>
              <a:uFillTx/>
              <a:latin typeface="Arial"/>
            </a:endParaRPr>
          </a:p>
        </p:txBody>
      </p:sp>
      <p:sp>
        <p:nvSpPr>
          <p:cNvPr id="141" name="Shape 16"/>
          <p:cNvSpPr/>
          <p:nvPr/>
        </p:nvSpPr>
        <p:spPr>
          <a:xfrm>
            <a:off x="4297680" y="292608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Shape 17"/>
          <p:cNvSpPr/>
          <p:nvPr/>
        </p:nvSpPr>
        <p:spPr>
          <a:xfrm>
            <a:off x="4462200" y="312264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3" name="Image 3" descr="preencoded.png"/>
          <p:cNvPicPr/>
          <p:nvPr/>
        </p:nvPicPr>
        <p:blipFill>
          <a:blip r:embed="rId4"/>
          <a:stretch/>
        </p:blipFill>
        <p:spPr>
          <a:xfrm>
            <a:off x="4590360" y="3250800"/>
            <a:ext cx="237240" cy="237240"/>
          </a:xfrm>
          <a:prstGeom prst="rect">
            <a:avLst/>
          </a:prstGeom>
          <a:noFill/>
          <a:ln w="0">
            <a:noFill/>
          </a:ln>
        </p:spPr>
      </p:pic>
      <p:sp>
        <p:nvSpPr>
          <p:cNvPr id="144" name="Text 18"/>
          <p:cNvSpPr/>
          <p:nvPr/>
        </p:nvSpPr>
        <p:spPr>
          <a:xfrm>
            <a:off x="5083920" y="300852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Valkey</a:t>
            </a:r>
            <a:endParaRPr lang="en-US" sz="1350" b="0" u="none" strike="noStrike">
              <a:solidFill>
                <a:srgbClr val="000000"/>
              </a:solidFill>
              <a:effectLst/>
              <a:uFillTx/>
              <a:latin typeface="Arial"/>
            </a:endParaRPr>
          </a:p>
        </p:txBody>
      </p:sp>
      <p:sp>
        <p:nvSpPr>
          <p:cNvPr id="145" name="Text 19"/>
          <p:cNvSpPr/>
          <p:nvPr/>
        </p:nvSpPr>
        <p:spPr>
          <a:xfrm>
            <a:off x="5083920" y="329184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Message broker + result backend for Celery</a:t>
            </a:r>
            <a:endParaRPr lang="en-US" sz="1050" b="0" u="none" strike="noStrike">
              <a:solidFill>
                <a:srgbClr val="000000"/>
              </a:solidFill>
              <a:effectLst/>
              <a:uFillTx/>
              <a:latin typeface="Arial"/>
            </a:endParaRPr>
          </a:p>
        </p:txBody>
      </p:sp>
      <p:sp>
        <p:nvSpPr>
          <p:cNvPr id="146" name="Shape 20"/>
          <p:cNvSpPr/>
          <p:nvPr/>
        </p:nvSpPr>
        <p:spPr>
          <a:xfrm>
            <a:off x="4297680" y="397764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7" name="Shape 21"/>
          <p:cNvSpPr/>
          <p:nvPr/>
        </p:nvSpPr>
        <p:spPr>
          <a:xfrm>
            <a:off x="4462200" y="417420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8" name="Image 4" descr="preencoded.png"/>
          <p:cNvPicPr/>
          <p:nvPr/>
        </p:nvPicPr>
        <p:blipFill>
          <a:blip r:embed="rId5"/>
          <a:stretch/>
        </p:blipFill>
        <p:spPr>
          <a:xfrm>
            <a:off x="4590360" y="4302360"/>
            <a:ext cx="237240" cy="237240"/>
          </a:xfrm>
          <a:prstGeom prst="rect">
            <a:avLst/>
          </a:prstGeom>
          <a:noFill/>
          <a:ln w="0">
            <a:noFill/>
          </a:ln>
        </p:spPr>
      </p:pic>
      <p:sp>
        <p:nvSpPr>
          <p:cNvPr id="149" name="Text 22"/>
          <p:cNvSpPr/>
          <p:nvPr/>
        </p:nvSpPr>
        <p:spPr>
          <a:xfrm>
            <a:off x="5083920" y="406008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PostgreSQL</a:t>
            </a:r>
            <a:endParaRPr lang="en-US" sz="1350" b="0" u="none" strike="noStrike">
              <a:solidFill>
                <a:srgbClr val="000000"/>
              </a:solidFill>
              <a:effectLst/>
              <a:uFillTx/>
              <a:latin typeface="Arial"/>
            </a:endParaRPr>
          </a:p>
        </p:txBody>
      </p:sp>
      <p:sp>
        <p:nvSpPr>
          <p:cNvPr id="150" name="Text 23"/>
          <p:cNvSpPr/>
          <p:nvPr/>
        </p:nvSpPr>
        <p:spPr>
          <a:xfrm>
            <a:off x="5083920" y="434340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Jobs, transcripts, speakers, turns</a:t>
            </a:r>
            <a:endParaRPr lang="en-US" sz="1050" b="0" u="none" strike="noStrike">
              <a:solidFill>
                <a:srgbClr val="000000"/>
              </a:solidFill>
              <a:effectLst/>
              <a:uFillTx/>
              <a:latin typeface="Arial"/>
            </a:endParaRPr>
          </a:p>
        </p:txBody>
      </p:sp>
      <p:sp>
        <p:nvSpPr>
          <p:cNvPr id="151" name="Shape 24"/>
          <p:cNvSpPr/>
          <p:nvPr/>
        </p:nvSpPr>
        <p:spPr>
          <a:xfrm>
            <a:off x="4297680" y="502920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2" name="Shape 25"/>
          <p:cNvSpPr/>
          <p:nvPr/>
        </p:nvSpPr>
        <p:spPr>
          <a:xfrm>
            <a:off x="4462200" y="522576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53" name="Image 5" descr="preencoded.png"/>
          <p:cNvPicPr/>
          <p:nvPr/>
        </p:nvPicPr>
        <p:blipFill>
          <a:blip r:embed="rId6"/>
          <a:stretch/>
        </p:blipFill>
        <p:spPr>
          <a:xfrm>
            <a:off x="4590360" y="5353920"/>
            <a:ext cx="237240" cy="237240"/>
          </a:xfrm>
          <a:prstGeom prst="rect">
            <a:avLst/>
          </a:prstGeom>
          <a:noFill/>
          <a:ln w="0">
            <a:noFill/>
          </a:ln>
        </p:spPr>
      </p:pic>
      <p:sp>
        <p:nvSpPr>
          <p:cNvPr id="154" name="Text 26"/>
          <p:cNvSpPr/>
          <p:nvPr/>
        </p:nvSpPr>
        <p:spPr>
          <a:xfrm>
            <a:off x="5083920" y="511164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MinIO</a:t>
            </a:r>
            <a:endParaRPr lang="en-US" sz="1350" b="0" u="none" strike="noStrike">
              <a:solidFill>
                <a:srgbClr val="000000"/>
              </a:solidFill>
              <a:effectLst/>
              <a:uFillTx/>
              <a:latin typeface="Arial"/>
            </a:endParaRPr>
          </a:p>
        </p:txBody>
      </p:sp>
      <p:sp>
        <p:nvSpPr>
          <p:cNvPr id="155" name="Text 27"/>
          <p:cNvSpPr/>
          <p:nvPr/>
        </p:nvSpPr>
        <p:spPr>
          <a:xfrm>
            <a:off x="5083920" y="539496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S3-compatible storage for raw audio files</a:t>
            </a:r>
            <a:endParaRPr lang="en-US" sz="1050" b="0" u="none" strike="noStrike">
              <a:solidFill>
                <a:srgbClr val="000000"/>
              </a:solidFill>
              <a:effectLst/>
              <a:uFillTx/>
              <a:latin typeface="Arial"/>
            </a:endParaRPr>
          </a:p>
        </p:txBody>
      </p:sp>
      <p:sp>
        <p:nvSpPr>
          <p:cNvPr id="156" name="Text 28"/>
          <p:cNvSpPr/>
          <p:nvPr/>
        </p:nvSpPr>
        <p:spPr>
          <a:xfrm>
            <a:off x="8046720" y="1417320"/>
            <a:ext cx="35200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F2B134"/>
                </a:solidFill>
                <a:effectLst/>
                <a:uFillTx/>
                <a:latin typeface="Calibri"/>
                <a:ea typeface="Calibri"/>
              </a:rPr>
              <a:t>DEPLOYMENT</a:t>
            </a:r>
            <a:endParaRPr lang="en-US" sz="1200" b="0" u="none" strike="noStrike">
              <a:solidFill>
                <a:srgbClr val="000000"/>
              </a:solidFill>
              <a:effectLst/>
              <a:uFillTx/>
              <a:latin typeface="Arial"/>
            </a:endParaRPr>
          </a:p>
        </p:txBody>
      </p:sp>
      <p:sp>
        <p:nvSpPr>
          <p:cNvPr id="157" name="Shape 29"/>
          <p:cNvSpPr/>
          <p:nvPr/>
        </p:nvSpPr>
        <p:spPr>
          <a:xfrm>
            <a:off x="8046720" y="187452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Shape 30"/>
          <p:cNvSpPr/>
          <p:nvPr/>
        </p:nvSpPr>
        <p:spPr>
          <a:xfrm>
            <a:off x="8211240" y="207108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59" name="Image 6" descr="preencoded.png"/>
          <p:cNvPicPr/>
          <p:nvPr/>
        </p:nvPicPr>
        <p:blipFill>
          <a:blip r:embed="rId7"/>
          <a:stretch/>
        </p:blipFill>
        <p:spPr>
          <a:xfrm>
            <a:off x="8339400" y="2199240"/>
            <a:ext cx="237240" cy="237240"/>
          </a:xfrm>
          <a:prstGeom prst="rect">
            <a:avLst/>
          </a:prstGeom>
          <a:noFill/>
          <a:ln w="0">
            <a:noFill/>
          </a:ln>
        </p:spPr>
      </p:pic>
      <p:sp>
        <p:nvSpPr>
          <p:cNvPr id="160" name="Text 31"/>
          <p:cNvSpPr/>
          <p:nvPr/>
        </p:nvSpPr>
        <p:spPr>
          <a:xfrm>
            <a:off x="8832960" y="195696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Docker</a:t>
            </a:r>
            <a:endParaRPr lang="en-US" sz="1350" b="0" u="none" strike="noStrike">
              <a:solidFill>
                <a:srgbClr val="000000"/>
              </a:solidFill>
              <a:effectLst/>
              <a:uFillTx/>
              <a:latin typeface="Arial"/>
            </a:endParaRPr>
          </a:p>
        </p:txBody>
      </p:sp>
      <p:sp>
        <p:nvSpPr>
          <p:cNvPr id="161" name="Text 32"/>
          <p:cNvSpPr/>
          <p:nvPr/>
        </p:nvSpPr>
        <p:spPr>
          <a:xfrm>
            <a:off x="8832960" y="224028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Every service runs in its own container</a:t>
            </a:r>
            <a:endParaRPr lang="en-US" sz="1050" b="0" u="none" strike="noStrike">
              <a:solidFill>
                <a:srgbClr val="000000"/>
              </a:solidFill>
              <a:effectLst/>
              <a:uFillTx/>
              <a:latin typeface="Arial"/>
            </a:endParaRPr>
          </a:p>
        </p:txBody>
      </p:sp>
      <p:sp>
        <p:nvSpPr>
          <p:cNvPr id="162" name="Shape 33"/>
          <p:cNvSpPr/>
          <p:nvPr/>
        </p:nvSpPr>
        <p:spPr>
          <a:xfrm>
            <a:off x="8046720" y="2926080"/>
            <a:ext cx="3520080" cy="886680"/>
          </a:xfrm>
          <a:prstGeom prst="roundRect">
            <a:avLst>
              <a:gd name="adj" fmla="val 8247"/>
            </a:avLst>
          </a:prstGeom>
          <a:solidFill>
            <a:srgbClr val="F4F7FB"/>
          </a:solidFill>
          <a:ln w="12700">
            <a:solidFill>
              <a:srgbClr val="E3E9F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Shape 34"/>
          <p:cNvSpPr/>
          <p:nvPr/>
        </p:nvSpPr>
        <p:spPr>
          <a:xfrm>
            <a:off x="8211240" y="3122640"/>
            <a:ext cx="493560" cy="493560"/>
          </a:xfrm>
          <a:prstGeom prst="ellipse">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64" name="Image 7" descr="preencoded.png"/>
          <p:cNvPicPr/>
          <p:nvPr/>
        </p:nvPicPr>
        <p:blipFill>
          <a:blip r:embed="rId8"/>
          <a:stretch/>
        </p:blipFill>
        <p:spPr>
          <a:xfrm>
            <a:off x="8339400" y="3250800"/>
            <a:ext cx="237240" cy="237240"/>
          </a:xfrm>
          <a:prstGeom prst="rect">
            <a:avLst/>
          </a:prstGeom>
          <a:noFill/>
          <a:ln w="0">
            <a:noFill/>
          </a:ln>
        </p:spPr>
      </p:pic>
      <p:sp>
        <p:nvSpPr>
          <p:cNvPr id="165" name="Text 35"/>
          <p:cNvSpPr/>
          <p:nvPr/>
        </p:nvSpPr>
        <p:spPr>
          <a:xfrm>
            <a:off x="8832960" y="3008520"/>
            <a:ext cx="2624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7233F"/>
                </a:solidFill>
                <a:effectLst/>
                <a:uFillTx/>
                <a:latin typeface="Calibri"/>
                <a:ea typeface="Calibri"/>
              </a:rPr>
              <a:t>Local GPU</a:t>
            </a:r>
            <a:endParaRPr lang="en-US" sz="1350" b="0" u="none" strike="noStrike">
              <a:solidFill>
                <a:srgbClr val="000000"/>
              </a:solidFill>
              <a:effectLst/>
              <a:uFillTx/>
              <a:latin typeface="Arial"/>
            </a:endParaRPr>
          </a:p>
        </p:txBody>
      </p:sp>
      <p:sp>
        <p:nvSpPr>
          <p:cNvPr id="166" name="Text 36"/>
          <p:cNvSpPr/>
          <p:nvPr/>
        </p:nvSpPr>
        <p:spPr>
          <a:xfrm>
            <a:off x="8832960" y="3291840"/>
            <a:ext cx="26056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6B7280"/>
                </a:solidFill>
                <a:effectLst/>
                <a:uFillTx/>
                <a:latin typeface="Calibri"/>
                <a:ea typeface="Calibri"/>
              </a:rPr>
              <a:t>All AI inference — nothing sent to the cloud</a:t>
            </a:r>
            <a:endParaRPr lang="en-US" sz="1050" b="0" u="none" strike="noStrike">
              <a:solidFill>
                <a:srgbClr val="000000"/>
              </a:solidFill>
              <a:effectLst/>
              <a:uFillTx/>
              <a:latin typeface="Arial"/>
            </a:endParaRPr>
          </a:p>
        </p:txBody>
      </p:sp>
      <p:sp>
        <p:nvSpPr>
          <p:cNvPr id="167" name="Shape 37"/>
          <p:cNvSpPr/>
          <p:nvPr/>
        </p:nvSpPr>
        <p:spPr>
          <a:xfrm>
            <a:off x="548640" y="6035040"/>
            <a:ext cx="11063880" cy="594000"/>
          </a:xfrm>
          <a:prstGeom prst="roundRect">
            <a:avLst>
              <a:gd name="adj" fmla="val 9231"/>
            </a:avLst>
          </a:prstGeom>
          <a:solidFill>
            <a:srgbClr val="17233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8" name="Text 38"/>
          <p:cNvSpPr/>
          <p:nvPr/>
        </p:nvSpPr>
        <p:spPr>
          <a:xfrm>
            <a:off x="548640" y="6035040"/>
            <a:ext cx="110638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i="1" u="none" strike="noStrike">
                <a:solidFill>
                  <a:srgbClr val="3FA7D6"/>
                </a:solidFill>
                <a:effectLst/>
                <a:uFillTx/>
                <a:latin typeface="Calibri"/>
                <a:ea typeface="Calibri"/>
              </a:rPr>
              <a:t>vLLM runs Qwen2.5 in its own container, sharing the same GPU as the worker's Faster-Whisper, NeMo, and Titanet — see “How It Works.”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2026-08-27T16:58:32Z</dcterms:created>
  <dc:creator>PptxGenJS</dc:creator>
  <dc:description/>
  <dc:language>en-US</dc:language>
  <cp:lastModifiedBy/>
  <dcterms:modified xsi:type="dcterms:W3CDTF">2026-08-29T11:15:54Z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